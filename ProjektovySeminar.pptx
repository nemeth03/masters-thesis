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3" r:id="rId7"/>
    <p:sldId id="261" r:id="rId8"/>
    <p:sldId id="262" r:id="rId9"/>
    <p:sldId id="274" r:id="rId10"/>
    <p:sldId id="273" r:id="rId11"/>
    <p:sldId id="264" r:id="rId12"/>
    <p:sldId id="266" r:id="rId13"/>
    <p:sldId id="271" r:id="rId14"/>
    <p:sldId id="272" r:id="rId15"/>
    <p:sldId id="268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redný štýl 2 - zvýrazneni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Svetlý štýl 3 - zvýrazneni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Stredný štýl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1471" autoAdjust="0"/>
  </p:normalViewPr>
  <p:slideViewPr>
    <p:cSldViewPr snapToGrid="0">
      <p:cViewPr varScale="1">
        <p:scale>
          <a:sx n="75" d="100"/>
          <a:sy n="75" d="100"/>
        </p:scale>
        <p:origin x="122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ED0CC52-0F20-40CF-AF79-4F04F060B18E}" type="doc">
      <dgm:prSet loTypeId="urn:microsoft.com/office/officeart/2005/8/layout/list1" loCatId="list" qsTypeId="urn:microsoft.com/office/officeart/2005/8/quickstyle/simple2" qsCatId="simple" csTypeId="urn:microsoft.com/office/officeart/2005/8/colors/accent5_2" csCatId="accent5" phldr="1"/>
      <dgm:spPr/>
      <dgm:t>
        <a:bodyPr/>
        <a:lstStyle/>
        <a:p>
          <a:endParaRPr lang="en-US"/>
        </a:p>
      </dgm:t>
    </dgm:pt>
    <dgm:pt modelId="{B838A42A-CB62-4C09-A028-932663531448}">
      <dgm:prSet/>
      <dgm:spPr/>
      <dgm:t>
        <a:bodyPr/>
        <a:lstStyle/>
        <a:p>
          <a:r>
            <a:rPr lang="sk-SK" dirty="0">
              <a:latin typeface="Arial" panose="020B0604020202020204" pitchFamily="34" charset="0"/>
              <a:cs typeface="Arial" panose="020B0604020202020204" pitchFamily="34" charset="0"/>
            </a:rPr>
            <a:t>Aplikované: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9A6095C-C0F6-4A29-9E46-D8502AF44886}" type="parTrans" cxnId="{9FAB69C1-FF52-46B6-8038-154E77D254EE}">
      <dgm:prSet/>
      <dgm:spPr/>
      <dgm:t>
        <a:bodyPr/>
        <a:lstStyle/>
        <a:p>
          <a:endParaRPr lang="en-US"/>
        </a:p>
      </dgm:t>
    </dgm:pt>
    <dgm:pt modelId="{CE6A072C-1073-4CB1-BE0E-3DB223590B00}" type="sibTrans" cxnId="{9FAB69C1-FF52-46B6-8038-154E77D254EE}">
      <dgm:prSet/>
      <dgm:spPr/>
      <dgm:t>
        <a:bodyPr/>
        <a:lstStyle/>
        <a:p>
          <a:endParaRPr lang="en-US"/>
        </a:p>
      </dgm:t>
    </dgm:pt>
    <dgm:pt modelId="{7DE2F2FD-5641-4E38-9F32-4B63B42084C1}">
      <dgm:prSet/>
      <dgm:spPr/>
      <dgm:t>
        <a:bodyPr/>
        <a:lstStyle/>
        <a:p>
          <a:r>
            <a:rPr lang="sk-SK" dirty="0" err="1">
              <a:latin typeface="Arial" panose="020B0604020202020204" pitchFamily="34" charset="0"/>
              <a:cs typeface="Arial" panose="020B0604020202020204" pitchFamily="34" charset="0"/>
            </a:rPr>
            <a:t>UDPipe</a:t>
          </a:r>
          <a:r>
            <a:rPr lang="sk-SK" dirty="0">
              <a:latin typeface="Arial" panose="020B0604020202020204" pitchFamily="34" charset="0"/>
              <a:cs typeface="Arial" panose="020B0604020202020204" pitchFamily="34" charset="0"/>
            </a:rPr>
            <a:t> tokenizácia a </a:t>
          </a:r>
          <a:r>
            <a:rPr lang="sk-SK" dirty="0" err="1">
              <a:latin typeface="Arial" panose="020B0604020202020204" pitchFamily="34" charset="0"/>
              <a:cs typeface="Arial" panose="020B0604020202020204" pitchFamily="34" charset="0"/>
            </a:rPr>
            <a:t>lemmatizácia</a:t>
          </a:r>
          <a:r>
            <a:rPr lang="sk-SK" dirty="0">
              <a:latin typeface="Arial" panose="020B0604020202020204" pitchFamily="34" charset="0"/>
              <a:cs typeface="Arial" panose="020B0604020202020204" pitchFamily="34" charset="0"/>
            </a:rPr>
            <a:t> textu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2BF8DC5-7D09-4283-A03D-BF6C4414473A}" type="parTrans" cxnId="{2A9C7DD2-5050-49E7-B379-90971A4D55D4}">
      <dgm:prSet/>
      <dgm:spPr/>
      <dgm:t>
        <a:bodyPr/>
        <a:lstStyle/>
        <a:p>
          <a:endParaRPr lang="en-US"/>
        </a:p>
      </dgm:t>
    </dgm:pt>
    <dgm:pt modelId="{3EFFB30E-F896-4A6A-8A34-8CA2D072C060}" type="sibTrans" cxnId="{2A9C7DD2-5050-49E7-B379-90971A4D55D4}">
      <dgm:prSet/>
      <dgm:spPr/>
      <dgm:t>
        <a:bodyPr/>
        <a:lstStyle/>
        <a:p>
          <a:endParaRPr lang="en-US"/>
        </a:p>
      </dgm:t>
    </dgm:pt>
    <dgm:pt modelId="{15700217-1A4B-43A7-98F4-5FAED1604FA0}">
      <dgm:prSet/>
      <dgm:spPr/>
      <dgm:t>
        <a:bodyPr/>
        <a:lstStyle/>
        <a:p>
          <a:r>
            <a:rPr lang="sk-SK" dirty="0">
              <a:latin typeface="Arial" panose="020B0604020202020204" pitchFamily="34" charset="0"/>
              <a:cs typeface="Arial" panose="020B0604020202020204" pitchFamily="34" charset="0"/>
            </a:rPr>
            <a:t>Permutácie textu podľa viet</a:t>
          </a:r>
          <a:r>
            <a:rPr lang="en-US" dirty="0">
              <a:latin typeface="Arial" panose="020B0604020202020204" pitchFamily="34" charset="0"/>
              <a:cs typeface="Arial" panose="020B0604020202020204" pitchFamily="34" charset="0"/>
            </a:rPr>
            <a:t>/</a:t>
          </a:r>
          <a:r>
            <a:rPr lang="en-US" dirty="0" err="1">
              <a:latin typeface="Arial" panose="020B0604020202020204" pitchFamily="34" charset="0"/>
              <a:cs typeface="Arial" panose="020B0604020202020204" pitchFamily="34" charset="0"/>
            </a:rPr>
            <a:t>slov</a:t>
          </a:r>
          <a:r>
            <a:rPr lang="sk-SK" dirty="0">
              <a:latin typeface="Arial" panose="020B0604020202020204" pitchFamily="34" charset="0"/>
              <a:cs typeface="Arial" panose="020B0604020202020204" pitchFamily="34" charset="0"/>
            </a:rPr>
            <a:t>, experimenty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4369C9B-277B-47D7-83E5-023240EB3A51}" type="parTrans" cxnId="{A971EE12-2D95-4B44-A02A-C26A457A9FAA}">
      <dgm:prSet/>
      <dgm:spPr/>
      <dgm:t>
        <a:bodyPr/>
        <a:lstStyle/>
        <a:p>
          <a:endParaRPr lang="en-US"/>
        </a:p>
      </dgm:t>
    </dgm:pt>
    <dgm:pt modelId="{5C784C19-AAFF-4081-AB00-37E89013DD90}" type="sibTrans" cxnId="{A971EE12-2D95-4B44-A02A-C26A457A9FAA}">
      <dgm:prSet/>
      <dgm:spPr/>
      <dgm:t>
        <a:bodyPr/>
        <a:lstStyle/>
        <a:p>
          <a:endParaRPr lang="en-US"/>
        </a:p>
      </dgm:t>
    </dgm:pt>
    <dgm:pt modelId="{D10F6378-38B6-4F16-8465-564EB911BEC2}">
      <dgm:prSet/>
      <dgm:spPr/>
      <dgm:t>
        <a:bodyPr/>
        <a:lstStyle/>
        <a:p>
          <a:r>
            <a:rPr lang="sk-SK" dirty="0">
              <a:latin typeface="Arial" panose="020B0604020202020204" pitchFamily="34" charset="0"/>
              <a:cs typeface="Arial" panose="020B0604020202020204" pitchFamily="34" charset="0"/>
            </a:rPr>
            <a:t>Analýza AI generovaného textu, experimenty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B4A682EF-D052-44E9-A1C1-3535D497066C}" type="parTrans" cxnId="{835B28A9-791F-4A8B-82DE-A55CF8935DE8}">
      <dgm:prSet/>
      <dgm:spPr/>
      <dgm:t>
        <a:bodyPr/>
        <a:lstStyle/>
        <a:p>
          <a:endParaRPr lang="en-US"/>
        </a:p>
      </dgm:t>
    </dgm:pt>
    <dgm:pt modelId="{3D368555-70CB-44A8-86EC-1FAAD6A18D90}" type="sibTrans" cxnId="{835B28A9-791F-4A8B-82DE-A55CF8935DE8}">
      <dgm:prSet/>
      <dgm:spPr/>
      <dgm:t>
        <a:bodyPr/>
        <a:lstStyle/>
        <a:p>
          <a:endParaRPr lang="en-US"/>
        </a:p>
      </dgm:t>
    </dgm:pt>
    <dgm:pt modelId="{9F5D876F-230D-440E-B857-85D97D7130B4}">
      <dgm:prSet/>
      <dgm:spPr/>
      <dgm:t>
        <a:bodyPr/>
        <a:lstStyle/>
        <a:p>
          <a:r>
            <a:rPr lang="sk-SK" dirty="0">
              <a:latin typeface="Arial" panose="020B0604020202020204" pitchFamily="34" charset="0"/>
              <a:cs typeface="Arial" panose="020B0604020202020204" pitchFamily="34" charset="0"/>
            </a:rPr>
            <a:t>Budúce: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EA809E8F-C21D-4A29-B3B0-DF6A3F34F64E}" type="parTrans" cxnId="{4655E242-D332-4C98-827F-5F250155F859}">
      <dgm:prSet/>
      <dgm:spPr/>
      <dgm:t>
        <a:bodyPr/>
        <a:lstStyle/>
        <a:p>
          <a:endParaRPr lang="en-US"/>
        </a:p>
      </dgm:t>
    </dgm:pt>
    <dgm:pt modelId="{49F3BDB2-C2B1-42F8-97B4-976CC772FC32}" type="sibTrans" cxnId="{4655E242-D332-4C98-827F-5F250155F859}">
      <dgm:prSet/>
      <dgm:spPr/>
      <dgm:t>
        <a:bodyPr/>
        <a:lstStyle/>
        <a:p>
          <a:endParaRPr lang="en-US"/>
        </a:p>
      </dgm:t>
    </dgm:pt>
    <dgm:pt modelId="{B99F4CEC-7B83-4F4B-ACD0-9B1C372F5EF5}">
      <dgm:prSet/>
      <dgm:spPr/>
      <dgm:t>
        <a:bodyPr/>
        <a:lstStyle/>
        <a:p>
          <a:r>
            <a:rPr lang="sk-SK" dirty="0">
              <a:latin typeface="Arial" panose="020B0604020202020204" pitchFamily="34" charset="0"/>
              <a:cs typeface="Arial" panose="020B0604020202020204" pitchFamily="34" charset="0"/>
            </a:rPr>
            <a:t>Implementácia matematických modelov na porovnanie distribúcie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215197B-6767-4EB1-B571-5D6D35DA94F9}" type="parTrans" cxnId="{BCE52558-193D-45DE-B2C0-87AC73ACA554}">
      <dgm:prSet/>
      <dgm:spPr/>
      <dgm:t>
        <a:bodyPr/>
        <a:lstStyle/>
        <a:p>
          <a:endParaRPr lang="en-US"/>
        </a:p>
      </dgm:t>
    </dgm:pt>
    <dgm:pt modelId="{567937F9-37A8-4E25-A728-060A0307227F}" type="sibTrans" cxnId="{BCE52558-193D-45DE-B2C0-87AC73ACA554}">
      <dgm:prSet/>
      <dgm:spPr/>
      <dgm:t>
        <a:bodyPr/>
        <a:lstStyle/>
        <a:p>
          <a:endParaRPr lang="en-US"/>
        </a:p>
      </dgm:t>
    </dgm:pt>
    <dgm:pt modelId="{EC9BEFF2-2111-4471-8803-4324383DF2C2}">
      <dgm:prSet/>
      <dgm:spPr/>
      <dgm:t>
        <a:bodyPr/>
        <a:lstStyle/>
        <a:p>
          <a:r>
            <a:rPr lang="sk-SK" dirty="0">
              <a:latin typeface="Arial" panose="020B0604020202020204" pitchFamily="34" charset="0"/>
              <a:cs typeface="Arial" panose="020B0604020202020204" pitchFamily="34" charset="0"/>
            </a:rPr>
            <a:t>Grafické znázornenie jazykovej analýzy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1C69BA70-8CCD-45C9-A508-90EE13E9E075}" type="parTrans" cxnId="{C51E9872-5989-4724-9966-5959B5F84234}">
      <dgm:prSet/>
      <dgm:spPr/>
      <dgm:t>
        <a:bodyPr/>
        <a:lstStyle/>
        <a:p>
          <a:endParaRPr lang="sk-SK"/>
        </a:p>
      </dgm:t>
    </dgm:pt>
    <dgm:pt modelId="{46E9C635-C380-420D-9BA9-3DAC071980B6}" type="sibTrans" cxnId="{C51E9872-5989-4724-9966-5959B5F84234}">
      <dgm:prSet/>
      <dgm:spPr/>
      <dgm:t>
        <a:bodyPr/>
        <a:lstStyle/>
        <a:p>
          <a:endParaRPr lang="sk-SK"/>
        </a:p>
      </dgm:t>
    </dgm:pt>
    <dgm:pt modelId="{0A662021-1045-4D48-87DB-890F09E945B6}">
      <dgm:prSet/>
      <dgm:spPr/>
      <dgm:t>
        <a:bodyPr/>
        <a:lstStyle/>
        <a:p>
          <a:r>
            <a:rPr lang="sk-SK" dirty="0">
              <a:latin typeface="Arial" panose="020B0604020202020204" pitchFamily="34" charset="0"/>
              <a:cs typeface="Arial" panose="020B0604020202020204" pitchFamily="34" charset="0"/>
            </a:rPr>
            <a:t>Pridanie podpory spracovania slovenského jazyka</a:t>
          </a:r>
          <a:endParaRPr lang="en-US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15EAF63-EDCA-4526-A852-42A4C30D7E3E}" type="parTrans" cxnId="{BFF1C67E-9BCB-44A2-B569-CF633E255D36}">
      <dgm:prSet/>
      <dgm:spPr/>
      <dgm:t>
        <a:bodyPr/>
        <a:lstStyle/>
        <a:p>
          <a:endParaRPr lang="sk-SK"/>
        </a:p>
      </dgm:t>
    </dgm:pt>
    <dgm:pt modelId="{C0E4DC29-0138-4135-9663-0F71A0AE3559}" type="sibTrans" cxnId="{BFF1C67E-9BCB-44A2-B569-CF633E255D36}">
      <dgm:prSet/>
      <dgm:spPr/>
      <dgm:t>
        <a:bodyPr/>
        <a:lstStyle/>
        <a:p>
          <a:endParaRPr lang="sk-SK"/>
        </a:p>
      </dgm:t>
    </dgm:pt>
    <dgm:pt modelId="{FB40D41C-506F-4F81-9FDF-D54BBA0ED17D}" type="pres">
      <dgm:prSet presAssocID="{8ED0CC52-0F20-40CF-AF79-4F04F060B18E}" presName="linear" presStyleCnt="0">
        <dgm:presLayoutVars>
          <dgm:dir/>
          <dgm:animLvl val="lvl"/>
          <dgm:resizeHandles val="exact"/>
        </dgm:presLayoutVars>
      </dgm:prSet>
      <dgm:spPr/>
    </dgm:pt>
    <dgm:pt modelId="{459463CA-41FC-4EFE-AB6E-FEEF203C1FF5}" type="pres">
      <dgm:prSet presAssocID="{B838A42A-CB62-4C09-A028-932663531448}" presName="parentLin" presStyleCnt="0"/>
      <dgm:spPr/>
    </dgm:pt>
    <dgm:pt modelId="{E4AE64C8-7026-42BE-8CF0-6C9DD2CAF5CE}" type="pres">
      <dgm:prSet presAssocID="{B838A42A-CB62-4C09-A028-932663531448}" presName="parentLeftMargin" presStyleLbl="node1" presStyleIdx="0" presStyleCnt="2"/>
      <dgm:spPr/>
    </dgm:pt>
    <dgm:pt modelId="{5569F79B-8A7E-454D-9945-DA02DD4FA4E6}" type="pres">
      <dgm:prSet presAssocID="{B838A42A-CB62-4C09-A028-93266353144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30CABAD-AF11-46C1-861A-A26F59A0D052}" type="pres">
      <dgm:prSet presAssocID="{B838A42A-CB62-4C09-A028-932663531448}" presName="negativeSpace" presStyleCnt="0"/>
      <dgm:spPr/>
    </dgm:pt>
    <dgm:pt modelId="{8573B9D6-7C8A-466E-A52A-E39C7D467317}" type="pres">
      <dgm:prSet presAssocID="{B838A42A-CB62-4C09-A028-932663531448}" presName="childText" presStyleLbl="conFgAcc1" presStyleIdx="0" presStyleCnt="2">
        <dgm:presLayoutVars>
          <dgm:bulletEnabled val="1"/>
        </dgm:presLayoutVars>
      </dgm:prSet>
      <dgm:spPr/>
    </dgm:pt>
    <dgm:pt modelId="{3FB86631-4935-49C1-837D-33F4D71FDC15}" type="pres">
      <dgm:prSet presAssocID="{CE6A072C-1073-4CB1-BE0E-3DB223590B00}" presName="spaceBetweenRectangles" presStyleCnt="0"/>
      <dgm:spPr/>
    </dgm:pt>
    <dgm:pt modelId="{50B96115-086E-4A8B-AD22-8AC2C9BF0901}" type="pres">
      <dgm:prSet presAssocID="{9F5D876F-230D-440E-B857-85D97D7130B4}" presName="parentLin" presStyleCnt="0"/>
      <dgm:spPr/>
    </dgm:pt>
    <dgm:pt modelId="{D7BFFD3E-2DEF-40DE-B526-E25BC8E138A5}" type="pres">
      <dgm:prSet presAssocID="{9F5D876F-230D-440E-B857-85D97D7130B4}" presName="parentLeftMargin" presStyleLbl="node1" presStyleIdx="0" presStyleCnt="2"/>
      <dgm:spPr/>
    </dgm:pt>
    <dgm:pt modelId="{50E3318B-6C41-4B98-B2B0-64E18F5CAE3A}" type="pres">
      <dgm:prSet presAssocID="{9F5D876F-230D-440E-B857-85D97D7130B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C1C5217-B6DD-45A1-A87E-EA3A9DDC6713}" type="pres">
      <dgm:prSet presAssocID="{9F5D876F-230D-440E-B857-85D97D7130B4}" presName="negativeSpace" presStyleCnt="0"/>
      <dgm:spPr/>
    </dgm:pt>
    <dgm:pt modelId="{E6A1D4FB-38B8-4ECD-AD84-424B8F8CF3EE}" type="pres">
      <dgm:prSet presAssocID="{9F5D876F-230D-440E-B857-85D97D7130B4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61B7002-B9CA-40D5-BD5F-B3021D1223F9}" type="presOf" srcId="{0A662021-1045-4D48-87DB-890F09E945B6}" destId="{8573B9D6-7C8A-466E-A52A-E39C7D467317}" srcOrd="0" destOrd="3" presId="urn:microsoft.com/office/officeart/2005/8/layout/list1"/>
    <dgm:cxn modelId="{A971EE12-2D95-4B44-A02A-C26A457A9FAA}" srcId="{B838A42A-CB62-4C09-A028-932663531448}" destId="{15700217-1A4B-43A7-98F4-5FAED1604FA0}" srcOrd="1" destOrd="0" parTransId="{44369C9B-277B-47D7-83E5-023240EB3A51}" sibTransId="{5C784C19-AAFF-4081-AB00-37E89013DD90}"/>
    <dgm:cxn modelId="{63F3E32A-29EA-4C02-8DAA-5A8798306EC6}" type="presOf" srcId="{B838A42A-CB62-4C09-A028-932663531448}" destId="{5569F79B-8A7E-454D-9945-DA02DD4FA4E6}" srcOrd="1" destOrd="0" presId="urn:microsoft.com/office/officeart/2005/8/layout/list1"/>
    <dgm:cxn modelId="{1C263133-6A20-49FB-9A8C-21A03DB12585}" type="presOf" srcId="{B99F4CEC-7B83-4F4B-ACD0-9B1C372F5EF5}" destId="{E6A1D4FB-38B8-4ECD-AD84-424B8F8CF3EE}" srcOrd="0" destOrd="0" presId="urn:microsoft.com/office/officeart/2005/8/layout/list1"/>
    <dgm:cxn modelId="{DBDBFB3C-E9E4-49DB-A4B1-1597F0D03400}" type="presOf" srcId="{8ED0CC52-0F20-40CF-AF79-4F04F060B18E}" destId="{FB40D41C-506F-4F81-9FDF-D54BBA0ED17D}" srcOrd="0" destOrd="0" presId="urn:microsoft.com/office/officeart/2005/8/layout/list1"/>
    <dgm:cxn modelId="{DB0E5D60-830A-4415-AB21-928F477F4E1B}" type="presOf" srcId="{9F5D876F-230D-440E-B857-85D97D7130B4}" destId="{50E3318B-6C41-4B98-B2B0-64E18F5CAE3A}" srcOrd="1" destOrd="0" presId="urn:microsoft.com/office/officeart/2005/8/layout/list1"/>
    <dgm:cxn modelId="{4655E242-D332-4C98-827F-5F250155F859}" srcId="{8ED0CC52-0F20-40CF-AF79-4F04F060B18E}" destId="{9F5D876F-230D-440E-B857-85D97D7130B4}" srcOrd="1" destOrd="0" parTransId="{EA809E8F-C21D-4A29-B3B0-DF6A3F34F64E}" sibTransId="{49F3BDB2-C2B1-42F8-97B4-976CC772FC32}"/>
    <dgm:cxn modelId="{68836D66-8213-43D7-8B4C-C64DABA29F01}" type="presOf" srcId="{B838A42A-CB62-4C09-A028-932663531448}" destId="{E4AE64C8-7026-42BE-8CF0-6C9DD2CAF5CE}" srcOrd="0" destOrd="0" presId="urn:microsoft.com/office/officeart/2005/8/layout/list1"/>
    <dgm:cxn modelId="{CFA88D51-535B-49A9-9BF2-D1AA2880108D}" type="presOf" srcId="{15700217-1A4B-43A7-98F4-5FAED1604FA0}" destId="{8573B9D6-7C8A-466E-A52A-E39C7D467317}" srcOrd="0" destOrd="1" presId="urn:microsoft.com/office/officeart/2005/8/layout/list1"/>
    <dgm:cxn modelId="{C51E9872-5989-4724-9966-5959B5F84234}" srcId="{9F5D876F-230D-440E-B857-85D97D7130B4}" destId="{EC9BEFF2-2111-4471-8803-4324383DF2C2}" srcOrd="1" destOrd="0" parTransId="{1C69BA70-8CCD-45C9-A508-90EE13E9E075}" sibTransId="{46E9C635-C380-420D-9BA9-3DAC071980B6}"/>
    <dgm:cxn modelId="{BCE52558-193D-45DE-B2C0-87AC73ACA554}" srcId="{9F5D876F-230D-440E-B857-85D97D7130B4}" destId="{B99F4CEC-7B83-4F4B-ACD0-9B1C372F5EF5}" srcOrd="0" destOrd="0" parTransId="{7215197B-6767-4EB1-B571-5D6D35DA94F9}" sibTransId="{567937F9-37A8-4E25-A728-060A0307227F}"/>
    <dgm:cxn modelId="{BFF1C67E-9BCB-44A2-B569-CF633E255D36}" srcId="{B838A42A-CB62-4C09-A028-932663531448}" destId="{0A662021-1045-4D48-87DB-890F09E945B6}" srcOrd="3" destOrd="0" parTransId="{415EAF63-EDCA-4526-A852-42A4C30D7E3E}" sibTransId="{C0E4DC29-0138-4135-9663-0F71A0AE3559}"/>
    <dgm:cxn modelId="{835B28A9-791F-4A8B-82DE-A55CF8935DE8}" srcId="{B838A42A-CB62-4C09-A028-932663531448}" destId="{D10F6378-38B6-4F16-8465-564EB911BEC2}" srcOrd="2" destOrd="0" parTransId="{B4A682EF-D052-44E9-A1C1-3535D497066C}" sibTransId="{3D368555-70CB-44A8-86EC-1FAAD6A18D90}"/>
    <dgm:cxn modelId="{314C59B0-AC9E-4D63-9A12-0B5E65E59B4C}" type="presOf" srcId="{D10F6378-38B6-4F16-8465-564EB911BEC2}" destId="{8573B9D6-7C8A-466E-A52A-E39C7D467317}" srcOrd="0" destOrd="2" presId="urn:microsoft.com/office/officeart/2005/8/layout/list1"/>
    <dgm:cxn modelId="{9FAB69C1-FF52-46B6-8038-154E77D254EE}" srcId="{8ED0CC52-0F20-40CF-AF79-4F04F060B18E}" destId="{B838A42A-CB62-4C09-A028-932663531448}" srcOrd="0" destOrd="0" parTransId="{B9A6095C-C0F6-4A29-9E46-D8502AF44886}" sibTransId="{CE6A072C-1073-4CB1-BE0E-3DB223590B00}"/>
    <dgm:cxn modelId="{0AFA69C1-E771-4A0F-81F3-4664ED269560}" type="presOf" srcId="{7DE2F2FD-5641-4E38-9F32-4B63B42084C1}" destId="{8573B9D6-7C8A-466E-A52A-E39C7D467317}" srcOrd="0" destOrd="0" presId="urn:microsoft.com/office/officeart/2005/8/layout/list1"/>
    <dgm:cxn modelId="{2A9C7DD2-5050-49E7-B379-90971A4D55D4}" srcId="{B838A42A-CB62-4C09-A028-932663531448}" destId="{7DE2F2FD-5641-4E38-9F32-4B63B42084C1}" srcOrd="0" destOrd="0" parTransId="{92BF8DC5-7D09-4283-A03D-BF6C4414473A}" sibTransId="{3EFFB30E-F896-4A6A-8A34-8CA2D072C060}"/>
    <dgm:cxn modelId="{DA83CED3-A712-401D-9297-912496593AC0}" type="presOf" srcId="{9F5D876F-230D-440E-B857-85D97D7130B4}" destId="{D7BFFD3E-2DEF-40DE-B526-E25BC8E138A5}" srcOrd="0" destOrd="0" presId="urn:microsoft.com/office/officeart/2005/8/layout/list1"/>
    <dgm:cxn modelId="{58F1F6D6-0284-447D-8226-FBBA5653C483}" type="presOf" srcId="{EC9BEFF2-2111-4471-8803-4324383DF2C2}" destId="{E6A1D4FB-38B8-4ECD-AD84-424B8F8CF3EE}" srcOrd="0" destOrd="1" presId="urn:microsoft.com/office/officeart/2005/8/layout/list1"/>
    <dgm:cxn modelId="{BD63345D-1C2D-46C9-BD64-BF412508B608}" type="presParOf" srcId="{FB40D41C-506F-4F81-9FDF-D54BBA0ED17D}" destId="{459463CA-41FC-4EFE-AB6E-FEEF203C1FF5}" srcOrd="0" destOrd="0" presId="urn:microsoft.com/office/officeart/2005/8/layout/list1"/>
    <dgm:cxn modelId="{95506700-1348-40CB-878B-574F52D3A5FC}" type="presParOf" srcId="{459463CA-41FC-4EFE-AB6E-FEEF203C1FF5}" destId="{E4AE64C8-7026-42BE-8CF0-6C9DD2CAF5CE}" srcOrd="0" destOrd="0" presId="urn:microsoft.com/office/officeart/2005/8/layout/list1"/>
    <dgm:cxn modelId="{A54A1218-CC48-4BC4-8AF9-D1BDB02CF5A1}" type="presParOf" srcId="{459463CA-41FC-4EFE-AB6E-FEEF203C1FF5}" destId="{5569F79B-8A7E-454D-9945-DA02DD4FA4E6}" srcOrd="1" destOrd="0" presId="urn:microsoft.com/office/officeart/2005/8/layout/list1"/>
    <dgm:cxn modelId="{B2C4F8E9-8F8B-4501-9D6F-0B0808B86A6C}" type="presParOf" srcId="{FB40D41C-506F-4F81-9FDF-D54BBA0ED17D}" destId="{C30CABAD-AF11-46C1-861A-A26F59A0D052}" srcOrd="1" destOrd="0" presId="urn:microsoft.com/office/officeart/2005/8/layout/list1"/>
    <dgm:cxn modelId="{AD5CE399-2EDC-472A-BF62-A9D98F4DF338}" type="presParOf" srcId="{FB40D41C-506F-4F81-9FDF-D54BBA0ED17D}" destId="{8573B9D6-7C8A-466E-A52A-E39C7D467317}" srcOrd="2" destOrd="0" presId="urn:microsoft.com/office/officeart/2005/8/layout/list1"/>
    <dgm:cxn modelId="{918BCEFA-CF13-448C-A82E-074DB326C08A}" type="presParOf" srcId="{FB40D41C-506F-4F81-9FDF-D54BBA0ED17D}" destId="{3FB86631-4935-49C1-837D-33F4D71FDC15}" srcOrd="3" destOrd="0" presId="urn:microsoft.com/office/officeart/2005/8/layout/list1"/>
    <dgm:cxn modelId="{1DFF48BC-9298-4580-A44B-161243761F9B}" type="presParOf" srcId="{FB40D41C-506F-4F81-9FDF-D54BBA0ED17D}" destId="{50B96115-086E-4A8B-AD22-8AC2C9BF0901}" srcOrd="4" destOrd="0" presId="urn:microsoft.com/office/officeart/2005/8/layout/list1"/>
    <dgm:cxn modelId="{DDF9D583-2395-4CA4-90C5-F04D209E282B}" type="presParOf" srcId="{50B96115-086E-4A8B-AD22-8AC2C9BF0901}" destId="{D7BFFD3E-2DEF-40DE-B526-E25BC8E138A5}" srcOrd="0" destOrd="0" presId="urn:microsoft.com/office/officeart/2005/8/layout/list1"/>
    <dgm:cxn modelId="{A5BA1E7C-3142-40AC-932F-36626B4FF674}" type="presParOf" srcId="{50B96115-086E-4A8B-AD22-8AC2C9BF0901}" destId="{50E3318B-6C41-4B98-B2B0-64E18F5CAE3A}" srcOrd="1" destOrd="0" presId="urn:microsoft.com/office/officeart/2005/8/layout/list1"/>
    <dgm:cxn modelId="{99F64103-5644-4F51-AB64-FFFC3D4B1A7E}" type="presParOf" srcId="{FB40D41C-506F-4F81-9FDF-D54BBA0ED17D}" destId="{6C1C5217-B6DD-45A1-A87E-EA3A9DDC6713}" srcOrd="5" destOrd="0" presId="urn:microsoft.com/office/officeart/2005/8/layout/list1"/>
    <dgm:cxn modelId="{182071EF-6ABA-45FF-A41C-5BB0C11A2FBE}" type="presParOf" srcId="{FB40D41C-506F-4F81-9FDF-D54BBA0ED17D}" destId="{E6A1D4FB-38B8-4ECD-AD84-424B8F8CF3EE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73B9D6-7C8A-466E-A52A-E39C7D467317}">
      <dsp:nvSpPr>
        <dsp:cNvPr id="0" name=""/>
        <dsp:cNvSpPr/>
      </dsp:nvSpPr>
      <dsp:spPr>
        <a:xfrm>
          <a:off x="0" y="447438"/>
          <a:ext cx="9858191" cy="194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105" tIns="458216" rIns="765105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sk-SK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UDPipe</a:t>
          </a:r>
          <a:r>
            <a:rPr lang="sk-SK" sz="2200" kern="1200" dirty="0">
              <a:latin typeface="Arial" panose="020B0604020202020204" pitchFamily="34" charset="0"/>
              <a:cs typeface="Arial" panose="020B0604020202020204" pitchFamily="34" charset="0"/>
            </a:rPr>
            <a:t> tokenizácia a </a:t>
          </a:r>
          <a:r>
            <a:rPr lang="sk-SK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lemmatizácia</a:t>
          </a:r>
          <a:r>
            <a:rPr lang="sk-SK" sz="2200" kern="1200" dirty="0">
              <a:latin typeface="Arial" panose="020B0604020202020204" pitchFamily="34" charset="0"/>
              <a:cs typeface="Arial" panose="020B0604020202020204" pitchFamily="34" charset="0"/>
            </a:rPr>
            <a:t> textu</a:t>
          </a:r>
          <a:endParaRPr lang="en-US" sz="22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sk-SK" sz="2200" kern="1200" dirty="0">
              <a:latin typeface="Arial" panose="020B0604020202020204" pitchFamily="34" charset="0"/>
              <a:cs typeface="Arial" panose="020B0604020202020204" pitchFamily="34" charset="0"/>
            </a:rPr>
            <a:t>Permutácie textu podľa viet</a:t>
          </a:r>
          <a:r>
            <a:rPr lang="en-US" sz="2200" kern="1200" dirty="0">
              <a:latin typeface="Arial" panose="020B0604020202020204" pitchFamily="34" charset="0"/>
              <a:cs typeface="Arial" panose="020B0604020202020204" pitchFamily="34" charset="0"/>
            </a:rPr>
            <a:t>/</a:t>
          </a:r>
          <a:r>
            <a:rPr lang="en-US" sz="2200" kern="1200" dirty="0" err="1">
              <a:latin typeface="Arial" panose="020B0604020202020204" pitchFamily="34" charset="0"/>
              <a:cs typeface="Arial" panose="020B0604020202020204" pitchFamily="34" charset="0"/>
            </a:rPr>
            <a:t>slov</a:t>
          </a:r>
          <a:r>
            <a:rPr lang="sk-SK" sz="2200" kern="1200" dirty="0">
              <a:latin typeface="Arial" panose="020B0604020202020204" pitchFamily="34" charset="0"/>
              <a:cs typeface="Arial" panose="020B0604020202020204" pitchFamily="34" charset="0"/>
            </a:rPr>
            <a:t>, experimenty</a:t>
          </a:r>
          <a:endParaRPr lang="en-US" sz="22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sk-SK" sz="2200" kern="1200" dirty="0">
              <a:latin typeface="Arial" panose="020B0604020202020204" pitchFamily="34" charset="0"/>
              <a:cs typeface="Arial" panose="020B0604020202020204" pitchFamily="34" charset="0"/>
            </a:rPr>
            <a:t>Analýza AI generovaného textu, experimenty</a:t>
          </a:r>
          <a:endParaRPr lang="en-US" sz="22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sk-SK" sz="2200" kern="1200" dirty="0">
              <a:latin typeface="Arial" panose="020B0604020202020204" pitchFamily="34" charset="0"/>
              <a:cs typeface="Arial" panose="020B0604020202020204" pitchFamily="34" charset="0"/>
            </a:rPr>
            <a:t>Pridanie podpory spracovania slovenského jazyka</a:t>
          </a:r>
          <a:endParaRPr lang="en-US" sz="2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447438"/>
        <a:ext cx="9858191" cy="1940400"/>
      </dsp:txXfrm>
    </dsp:sp>
    <dsp:sp modelId="{5569F79B-8A7E-454D-9945-DA02DD4FA4E6}">
      <dsp:nvSpPr>
        <dsp:cNvPr id="0" name=""/>
        <dsp:cNvSpPr/>
      </dsp:nvSpPr>
      <dsp:spPr>
        <a:xfrm>
          <a:off x="492909" y="122718"/>
          <a:ext cx="6900733" cy="6494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0831" tIns="0" rIns="260831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200" kern="1200" dirty="0">
              <a:latin typeface="Arial" panose="020B0604020202020204" pitchFamily="34" charset="0"/>
              <a:cs typeface="Arial" panose="020B0604020202020204" pitchFamily="34" charset="0"/>
            </a:rPr>
            <a:t>Aplikované:</a:t>
          </a:r>
          <a:endParaRPr lang="en-US" sz="2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24612" y="154421"/>
        <a:ext cx="6837327" cy="586034"/>
      </dsp:txXfrm>
    </dsp:sp>
    <dsp:sp modelId="{E6A1D4FB-38B8-4ECD-AD84-424B8F8CF3EE}">
      <dsp:nvSpPr>
        <dsp:cNvPr id="0" name=""/>
        <dsp:cNvSpPr/>
      </dsp:nvSpPr>
      <dsp:spPr>
        <a:xfrm>
          <a:off x="0" y="2831359"/>
          <a:ext cx="9858191" cy="1247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397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5105" tIns="458216" rIns="765105" bIns="156464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sk-SK" sz="2200" kern="1200" dirty="0">
              <a:latin typeface="Arial" panose="020B0604020202020204" pitchFamily="34" charset="0"/>
              <a:cs typeface="Arial" panose="020B0604020202020204" pitchFamily="34" charset="0"/>
            </a:rPr>
            <a:t>Implementácia matematických modelov na porovnanie distribúcie</a:t>
          </a:r>
          <a:endParaRPr lang="en-US" sz="2200" kern="1200" dirty="0">
            <a:latin typeface="Arial" panose="020B0604020202020204" pitchFamily="34" charset="0"/>
            <a:cs typeface="Arial" panose="020B0604020202020204" pitchFamily="34" charset="0"/>
          </a:endParaRPr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sk-SK" sz="2200" kern="1200" dirty="0">
              <a:latin typeface="Arial" panose="020B0604020202020204" pitchFamily="34" charset="0"/>
              <a:cs typeface="Arial" panose="020B0604020202020204" pitchFamily="34" charset="0"/>
            </a:rPr>
            <a:t>Grafické znázornenie jazykovej analýzy</a:t>
          </a:r>
          <a:endParaRPr lang="en-US" sz="2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0" y="2831359"/>
        <a:ext cx="9858191" cy="1247400"/>
      </dsp:txXfrm>
    </dsp:sp>
    <dsp:sp modelId="{50E3318B-6C41-4B98-B2B0-64E18F5CAE3A}">
      <dsp:nvSpPr>
        <dsp:cNvPr id="0" name=""/>
        <dsp:cNvSpPr/>
      </dsp:nvSpPr>
      <dsp:spPr>
        <a:xfrm>
          <a:off x="492909" y="2506639"/>
          <a:ext cx="6900733" cy="64944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714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60831" tIns="0" rIns="260831" bIns="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k-SK" sz="2200" kern="1200" dirty="0">
              <a:latin typeface="Arial" panose="020B0604020202020204" pitchFamily="34" charset="0"/>
              <a:cs typeface="Arial" panose="020B0604020202020204" pitchFamily="34" charset="0"/>
            </a:rPr>
            <a:t>Budúce:</a:t>
          </a:r>
          <a:endParaRPr lang="en-US" sz="22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524612" y="2538342"/>
        <a:ext cx="6837327" cy="5860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85D392-0CAC-4457-8BCE-9AC73B589516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B520EB-4DD3-43FA-AF8C-5E5593FD7DA4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997110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b="0" i="0" u="none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Dobrý deň, moje meno je Zdenko Németh a rád by som vám predstavil tému svojej diplomovej práce s názvom Model distribúcie interpunkčných znamienok v rôznych textoch.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520EB-4DD3-43FA-AF8C-5E5593FD7DA4}" type="slidenum">
              <a:rPr lang="sk-SK" smtClean="0"/>
              <a:t>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77538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Cieľom mojej práce je analyzovať distribúciu interpunkčných znamienok a slov v rôznych typoch textov.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Vo svojej práci využívam aplikáciu z bakalárskej práce, ktorú ďalej rozširujem o nové funkcionality, kvalitnejšie predspracovanie textu a podporu viacerých jazykov.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Následne vytváram pozičné slovné siete a budem skúmať, do akej miery ich vlastnosti zodpovedajú známym matematickým modelom. Taktiež porovnávam vlastnosti sietí pri rôznych úpravách textu, napríklad pri permutácii slov alebo viet.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Súčasťou práce je aj porovnanie originálnych textov s AI generovanými textami a sledovanie rozdielov v ich štruktúre.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520EB-4DD3-43FA-AF8C-5E5593FD7DA4}" type="slidenum">
              <a:rPr lang="sk-SK" smtClean="0"/>
              <a:t>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8732290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V rámci diplomovej práce nadväzujem na aplikáciu, ktorú som vytvoril už počas bakalárskej práce.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Táto aplikácia umožňuje vytvárať pozičné slovné siete z textu a vykonávať základnú grafovú aj jazykovú analýzu.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Už v pôvodnej verzii obsahovala tokenizáciu textu, možnosť výberu jazyka, prácu s interpunkčnými znamienkami, tvorbu slovných sietí a analýzu distribúcie stupňov vrcholov.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Podporované boli dva jazyky — angličtina a nemčina.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V diplomovej práci túto aplikáciu ďalej rozširujem a upravujem, najmä v oblasti kvalitnejšieho jazykového spracovania a experimentov s rôznymi typmi textov.</a:t>
            </a:r>
          </a:p>
          <a:p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520EB-4DD3-43FA-AF8C-5E5593FD7DA4}" type="slidenum">
              <a:rPr lang="sk-SK" smtClean="0"/>
              <a:t>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383105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Na tomto slide je ukážka pôvodnej aplikácie z bakalárskej práce.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Používateľ si vie načítať textový súbor, vybrať jazyk a zvoliť, ktoré interpunkčné znamienka budú zahrnuté do analýzy.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Možno vidieť viacero funkcionalít, z ktorých si používateľ môže vybrať — napríklad uloženie vytvorenej siete pre ďalšie externé spracovanie, analýzu distribúcie stupňov uzlov, grafovú a jazykovú analýzu alebo analýzu rastu siete.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Na pravej strane je ukážka porovnania distribúcie stupňov vrcholov reálnej siete s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Dorogovtsev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Mendes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modelom.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520EB-4DD3-43FA-AF8C-5E5593FD7DA4}" type="slidenum">
              <a:rPr lang="sk-SK" smtClean="0"/>
              <a:t>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0070355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Analýza rastu siete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Na tomto grafe je zobrazený vývoj exponentu gama pri raste siete vytvorenej z textu </a:t>
            </a:r>
            <a:r>
              <a:rPr lang="sk-SK" i="1" dirty="0">
                <a:latin typeface="Arial" panose="020B0604020202020204" pitchFamily="34" charset="0"/>
                <a:cs typeface="Arial" panose="020B0604020202020204" pitchFamily="34" charset="0"/>
              </a:rPr>
              <a:t>Vianočná koleda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od Charlesa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Dickensa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Na osi X sa nachádza počet vrcholov siete a na osi Y hodnota exponentu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mocninového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rozdelenia.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Možno vidieť, že pri malých sieťach hodnota výraznejšie kolíše, no so zväčšujúcim sa počtom vrcholov sa postupne stabilizuje približne okolo hodnoty 2.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To naznačuje, že vytvorená jazyková sieť vykazuje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scale-free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vlastnosti a distribúcia stupňov vrcholov sa približuje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mocninovému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rozdeleniu.</a:t>
            </a:r>
          </a:p>
          <a:p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520EB-4DD3-43FA-AF8C-5E5593FD7DA4}" type="slidenum">
              <a:rPr lang="sk-SK" smtClean="0"/>
              <a:t>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4589401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Pozičné slovné siete predstavujú spôsob, ako môžeme text reprezentovať pomocou grafu.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Jedná sa o neorientovaný neohodnotený graf.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Jednotlivé uzly reprezentujú slová a hrany vznikajú medzi slovami, ktoré sa v texte nachádzajú vedľa seba.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Takáto sieť dokáže zachytiť lokálne vzťahy medzi slovami a štruktúru textu.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Na jednoduchom príklade môžeme vidieť vetu </a:t>
            </a:r>
            <a:r>
              <a:rPr lang="sk-SK" i="1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sk-SK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k-SK" i="1" dirty="0" err="1">
                <a:latin typeface="Arial" panose="020B0604020202020204" pitchFamily="34" charset="0"/>
                <a:cs typeface="Arial" panose="020B0604020202020204" pitchFamily="34" charset="0"/>
              </a:rPr>
              <a:t>cat</a:t>
            </a:r>
            <a:r>
              <a:rPr lang="sk-SK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k-SK" i="1" dirty="0" err="1">
                <a:latin typeface="Arial" panose="020B0604020202020204" pitchFamily="34" charset="0"/>
                <a:cs typeface="Arial" panose="020B0604020202020204" pitchFamily="34" charset="0"/>
              </a:rPr>
              <a:t>sits</a:t>
            </a:r>
            <a:r>
              <a:rPr lang="sk-SK" i="1" dirty="0">
                <a:latin typeface="Arial" panose="020B0604020202020204" pitchFamily="34" charset="0"/>
                <a:cs typeface="Arial" panose="020B0604020202020204" pitchFamily="34" charset="0"/>
              </a:rPr>
              <a:t> on </a:t>
            </a:r>
            <a:r>
              <a:rPr lang="sk-SK" i="1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sk-SK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k-SK" i="1" dirty="0" err="1">
                <a:latin typeface="Arial" panose="020B0604020202020204" pitchFamily="34" charset="0"/>
                <a:cs typeface="Arial" panose="020B0604020202020204" pitchFamily="34" charset="0"/>
              </a:rPr>
              <a:t>chair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, ktorá sa po spracovaní prevedie na postupnosť prepojených uzlov reprezentujúcich jednotlivé slová alebo ich lemy.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520EB-4DD3-43FA-AF8C-5E5593FD7DA4}" type="slidenum">
              <a:rPr lang="sk-SK" smtClean="0"/>
              <a:t>6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062996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Na tomto slide sú zhrnuté hlavné rozšírenia aplikácie, ktoré som zatiaľ implementoval, a zároveň plánované funkcionality do ďalšej fázy práce.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Jednou z najdôležitejších zmien bolo nasadenie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UDPipe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na tokenizáciu a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lemmatizáciu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textu, čo umožnilo kvalitnejšie spracovanie rôznych jazykov a zjednotenie rôznych tvarov slov.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Ďalej som implementoval permutácie viet a slov, pomocou ktorých skúmam, ako sa mení štruktúra siete pri narušení pôvodného poradia textu.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Pridal som aj experimenty s AI generovanými textami a podporu slovenského jazyka, ktorý pôvodná aplikácia nepodporovala.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Do budúcna plánujem implementovať ďalšie matematické modely na porovnanie distribúcií a rozšíriť aplikáciu o grafické vizualizácie jazykovej analýzy.</a:t>
            </a:r>
          </a:p>
          <a:p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520EB-4DD3-43FA-AF8C-5E5593FD7DA4}" type="slidenum">
              <a:rPr lang="sk-SK" smtClean="0"/>
              <a:t>7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646095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Jednou z najzásadnejších zmien bolo rozšírenie aplikácie pomocou nástroja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UDPipe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Pôvodná verzia aplikácie používala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regex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tokenizáciu, ktorá síce fungovala pre jednoduché prípady, no pri prirodzenom jazyku narážala na viacero problémov.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Rôzne tvary slov, skloňovanie alebo časovanie spôsobovali, že sa rovnaké slovo v sieti reprezentovalo ako viacero rôznych uzlov. Pri podpore ďalších jazykov by bolo navyše potrebné implementovať množstvo špecifických pravidiel.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Použitie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UDPipe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prinieslo presnejšiu tokenizáciu a hlavne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lemmatizáciu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, teda prevod slov do ich základného tvaru.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Na spodnej ukážke je vidieť, že rôzne tvary slova „programovať“ sú po spracovaní prevedené na spoločný základný tvar, čo vedie ku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konzistentnejšiemu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vytváraniu pozičných slovných sietí.</a:t>
            </a:r>
          </a:p>
          <a:p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520EB-4DD3-43FA-AF8C-5E5593FD7DA4}" type="slidenum">
              <a:rPr lang="sk-SK" smtClean="0"/>
              <a:t>8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107051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Na tomto slide je porovnanie pôvodného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regex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predspracovania textu a nového spracovania pomocou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UDPipe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na texte </a:t>
            </a:r>
            <a:r>
              <a:rPr lang="sk-SK" i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sk-SK" i="1" dirty="0" err="1">
                <a:latin typeface="Arial" panose="020B0604020202020204" pitchFamily="34" charset="0"/>
                <a:cs typeface="Arial" panose="020B0604020202020204" pitchFamily="34" charset="0"/>
              </a:rPr>
              <a:t>Christmas</a:t>
            </a:r>
            <a:r>
              <a:rPr lang="sk-SK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k-SK" i="1" dirty="0" err="1">
                <a:latin typeface="Arial" panose="020B0604020202020204" pitchFamily="34" charset="0"/>
                <a:cs typeface="Arial" panose="020B0604020202020204" pitchFamily="34" charset="0"/>
              </a:rPr>
              <a:t>Carol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v anglickej verzii bez interpunkcie.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Možno vidieť, že po použití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UDPipe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sa znížil počet uzlov aj hrán v sieti. Je to spôsobené hlavne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lemmatizáciou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, teda zjednotením rôznych tvarov slov do základného tvaru.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Zároveň sa mierne zvýšil priemerný stupeň vrcholov, hustota siete aj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clustering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coefficient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, čo naznačuje kompaktnejšiu a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konzistentnejšiu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štruktúru siete.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Skrátila sa aj priemerná najkratšia cesta a znížil sa priemer siete, takže sieť je po spracovaní pomocou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UDPipe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viac prepojená.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Rozdiely možno pozorovať aj pri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bigramoch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trigramoch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, kde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UDPipe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vytvára stabilnejšie jazykové štruktúry vďaka presnejšej tokenizácii a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lemmatizácii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520EB-4DD3-43FA-AF8C-5E5593FD7DA4}" type="slidenum">
              <a:rPr lang="sk-SK" smtClean="0"/>
              <a:t>9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31641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V ďalšej časti prezentácie by som chcel ukázať niekoľko experimentov, ktoré som realizoval nad vytvorenými pozičnými slovnými sieťami.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Zameriaval som sa hlavne na grafovú a jazykovú analýzu textov, sledovanie zmien štruktúry siete pri rôznych úpravách textu.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Cieľom bolo zistiť, ktoré vlastnosti siete zostávajú stabilné a ktoré sa výrazne menia pri narušení pôvodnej štruktúry textu.</a:t>
            </a:r>
          </a:p>
          <a:p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Bude sa jednať o spracovania už na novej verzii aplikácie s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UDPipe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520EB-4DD3-43FA-AF8C-5E5593FD7DA4}" type="slidenum">
              <a:rPr lang="sk-SK" smtClean="0"/>
              <a:t>10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909497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Na tomto slide je zobrazený vplyv permutácie textu na pozičné slovné siete pre anglickú verziu textu </a:t>
            </a:r>
            <a:r>
              <a:rPr lang="sk-SK" i="1" dirty="0">
                <a:latin typeface="Arial" panose="020B0604020202020204" pitchFamily="34" charset="0"/>
                <a:cs typeface="Arial" panose="020B0604020202020204" pitchFamily="34" charset="0"/>
              </a:rPr>
              <a:t>A </a:t>
            </a:r>
            <a:r>
              <a:rPr lang="sk-SK" i="1" dirty="0" err="1">
                <a:latin typeface="Arial" panose="020B0604020202020204" pitchFamily="34" charset="0"/>
                <a:cs typeface="Arial" panose="020B0604020202020204" pitchFamily="34" charset="0"/>
              </a:rPr>
              <a:t>Christmas</a:t>
            </a:r>
            <a:r>
              <a:rPr lang="sk-SK" i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k-SK" i="1" dirty="0" err="1">
                <a:latin typeface="Arial" panose="020B0604020202020204" pitchFamily="34" charset="0"/>
                <a:cs typeface="Arial" panose="020B0604020202020204" pitchFamily="34" charset="0"/>
              </a:rPr>
              <a:t>Carol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bez interpunkcie.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Porovnával som tri varianty – pôvodný text bez úprav, náhodné premiešanie viet a náhodné premiešanie slov.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Možno vidieť, že pri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shuffle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viet sa väčšina metrík mení len minimálne. Počet uzlov, hustota siete aj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clustering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coefficient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zostávajú veľmi podobné, čo naznačuje, že lokálne vzťahy medzi slovami sa vo veľkej miere zachovávajú.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Naopak pri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shuffle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slov dochádza k výraznejším zmenám. Zvýšil sa počet hrán, priemerný stupeň vrcholov aj počet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bigramov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trigramov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, zatiaľ čo maximálne frekvencie výrazne klesli.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To naznačuje, že náhodné premiešanie slov narúša prirodzenú jazykovú štruktúru textu a vytvára oveľa náhodnejšie spojenia medzi slovami.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520EB-4DD3-43FA-AF8C-5E5593FD7DA4}" type="slidenum">
              <a:rPr lang="sk-SK" smtClean="0"/>
              <a:t>11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5398907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Na tomto slide je porovnanie originálneho textu </a:t>
            </a:r>
            <a:r>
              <a:rPr lang="sk-SK" i="1" dirty="0" err="1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sk-SK" i="1" dirty="0">
                <a:latin typeface="Arial" panose="020B0604020202020204" pitchFamily="34" charset="0"/>
                <a:cs typeface="Arial" panose="020B0604020202020204" pitchFamily="34" charset="0"/>
              </a:rPr>
              <a:t> Picture of </a:t>
            </a:r>
            <a:r>
              <a:rPr lang="sk-SK" i="1" dirty="0" err="1">
                <a:latin typeface="Arial" panose="020B0604020202020204" pitchFamily="34" charset="0"/>
                <a:cs typeface="Arial" panose="020B0604020202020204" pitchFamily="34" charset="0"/>
              </a:rPr>
              <a:t>Dorian</a:t>
            </a:r>
            <a:r>
              <a:rPr lang="sk-SK" i="1" dirty="0">
                <a:latin typeface="Arial" panose="020B0604020202020204" pitchFamily="34" charset="0"/>
                <a:cs typeface="Arial" panose="020B0604020202020204" pitchFamily="34" charset="0"/>
              </a:rPr>
              <a:t> Gray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s AI generovaným textom vytvoreným na základe rovnakého štýlu autora. Analýza bola vykonaná bez interpunkcie.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Vidíme, že základné vlastnosti siete sú si pomerne podobné, napríklad hustota siete alebo priemerná dĺžka najkratšej cesty. To naznačuje, že AI dokáže do určitej miery napodobniť globálnu štruktúru textu.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Rozdiely sa však objavujú pri komplexnejších vlastnostiach siete. Originálny text má vyšší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clustering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coefficient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, viac hrán,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bigramov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aj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trigramov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, čo naznačuje bohatšie a prirodzenejšie vzťahy medzi slovami.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AI generovaný text má naopak vyššiu maximálnu frekvenciu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bigramov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a vyšší maximálny stupeň vrcholu, čo môže znamenať častejšie opakovanie určitých vzorov alebo fráz.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Tieto výsledky ukazujú, že aj keď AI vie vytvoriť text podobný originálu, štruktúra pozičnej slovnej siete stále obsahuje merateľné rozdiely oproti reálnemu textu.</a:t>
            </a: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520EB-4DD3-43FA-AF8C-5E5593FD7DA4}" type="slidenum">
              <a:rPr lang="sk-SK" smtClean="0"/>
              <a:t>12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702887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Na tomto slide je prehľad modelov, ktoré plánujem v ďalšej fáze práce implementovať a porovnávať s vytvorenými pozičnými slovnými sieťami.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Tieto modely pochádzajú zo sieťovej teórie a štatistiky jazyka a umožňujú opísať rôzne vlastnosti textových sietí, napríklad rozdelenie stupňov vrcholov,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clustering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alebo vznik často používaných slov.</a:t>
            </a:r>
          </a:p>
          <a:p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Zipf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law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+ DGM 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už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je 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implementované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bc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á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Zipf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law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(Jazykové)</a:t>
            </a:r>
          </a:p>
          <a:p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Zipfov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zákon opisuje prirodzenú distribúciu slov v jazyku. Znamená to, že najčastejšie slovo sa v texte objavuje veľmi veľa krát, druhé približne polovične často, tretie tretinovo a podobne.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Tento model sa používa ako základný jazykový model a slúži na overenie, či sa text správa ako prirodzený jazyk. Pri porovnaní sledujem hlavne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rank-frequency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distribúciu slov a exponent alfa</a:t>
            </a:r>
          </a:p>
          <a:p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Simon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Yule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model (Jazykové)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Simonov alebo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Yuleho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model vysvetľuje, ako môže prirodzene vzniknúť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Zipfova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distribúcia slov. Model funguje tak, že sa buď pridá nové slovo, alebo sa zopakuje už existujúce slovo s pravdepodobnosťou závislou od jeho frekvencie.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Výsledkom je, že často používané slová sa stávajú ešte častejšími. Model sa používa na simuláciu rastu slovnej zásoby v texte.</a:t>
            </a:r>
          </a:p>
          <a:p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Dorogovtsev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Mendes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Scale-free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Dorogovtsev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Mendes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model vytvára rastúcu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scale-free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sieť. Nové uzly sa nepripájajú k uzlom, ale ku existujúcim hranám, čím vzniká vyšší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clustering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Tento model je vhodný pre jazykové siete, pretože dokáže lepšie zachytiť lokálne vzťahy medzi slovami. Pri porovnaní sledujem hlavne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degree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distribúciu a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clustering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coefficient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Barabási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–Albert (BA) (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Scale-free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Barabási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–Albert model funguje na princípe preferenčného pripájania. To znamená, že uzly s veľkým počtom spojení získavajú nové spojenia jednoduchšie.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Výsledkom je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scale-free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sieť s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power-law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distribúciou stupňov vrcholov. Model sa často používa ako základný model komplexných sietí.</a:t>
            </a:r>
          </a:p>
          <a:p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Fitness model (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Bianconi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Barabási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Fitness model rozširuje BA model o vlastnosť nazývanú fitness alebo atraktivita uzla. Znamená to, že niektoré uzly majú väčšiu schopnosť získavať spojenia než iné.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Aj uzol s malým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degree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môže rýchlo rásť, ak má vysokú fitness. Tento model môže lepšie vystihovať jazyk, pretože niektoré slová sú prirodzene významnejšie alebo univerzálnejšie.</a:t>
            </a:r>
          </a:p>
          <a:p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520EB-4DD3-43FA-AF8C-5E5593FD7DA4}" type="slidenum">
              <a:rPr lang="sk-SK" smtClean="0"/>
              <a:t>13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43436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Nonlinear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preferential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attachment</a:t>
            </a:r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Tento model je rozšírením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Barabási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–Albert modelu. Pravdepodobnosť získania nového spojenia nie je lineárna, ale závisí od stupňa uzla podľa exponentu alfa.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To znamená, že rast siete môže byť slabší alebo silnejší než pri klasickom BA modeli. Model umožňuje flexibilnejšie opisovať reálne siete, ktoré nemusia mať presne lineárne preferenčné pripájanie.</a:t>
            </a:r>
          </a:p>
          <a:p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Configuration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model (Kontrolné)</a:t>
            </a:r>
          </a:p>
          <a:p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Configuration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model slúži ako kontrolný alebo referenčný model. Zachováva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degree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distribúciu pôvodnej siete, ale spojenia medzi uzlami vytvára náhodne.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Pomocou tohto modelu viem overiť, či vlastnosti siete vznikajú iba z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degree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distribúcie, alebo či existujú aj zložitejšie štrukturálne vzťahy medzi slovami.</a:t>
            </a:r>
          </a:p>
          <a:p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Watts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Strogatz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Small-world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Watts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Strogatz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model vytvára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small-world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siete. Sieť má vysoký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clustering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, ale zároveň krátke cesty medzi uzlami.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Tento model je zaujímavý pre jazykové siete, pretože prirodzený jazyk často vykazuje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small-world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vlastnosti — slová tvoria lokálne skupiny, ale zároveň sú medzi nimi krátke spojenia.</a:t>
            </a:r>
          </a:p>
          <a:p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Erdős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Rényi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(Náhodné)</a:t>
            </a:r>
          </a:p>
          <a:p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Erdős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Rényi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model predstavuje úplne náhodnú sieť. Každý pár uzlov má určitú pravdepodobnosť, že bude spojený hranou.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Používa sa hlavne ako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baseline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alebo nulový model. Pomáha ukázať, že jazykové siete nevznikajú náhodne, ale majú špecifickú štruktúru, napríklad vyšší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clustering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alebo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scale-free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vlastnosti.</a:t>
            </a:r>
          </a:p>
          <a:p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Modely chcem implementovať podľa náročnosti, aj na vyvrátenie, že mu daná sieť nezodpovedá, napr.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Erdős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Rényi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(Náhodné).</a:t>
            </a:r>
          </a:p>
          <a:p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520EB-4DD3-43FA-AF8C-5E5593FD7DA4}" type="slidenum">
              <a:rPr lang="sk-SK" smtClean="0"/>
              <a:t>14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034667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obrázok snímky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objekt pre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Na tomto slide sú uvedené hlavné vedecké články a zdroje, z ktorých pri práci vychádzam.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Prvý článok sa venuje tomu, že interpunkčné znamienka sa v textoch správajú podobne ako bežné slová. Autori ukazujú, že aj interpunkcia má podobnú štatistickú distribúciu a výrazne ovplyvňuje vlastnosti jazykových sietí, napríklad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clustering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alebo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shortest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paths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. Tento článok bol jednou z motivácií zaradiť interpunkciu priamo do analýzy.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Druhý článok sa zaoberá analýzou prirodzeného jazyka pomocou teórie komplexných sietí. Skúma vznik vzťahov medzi slovami a modelovanie rastu jazykových sietí pomocou preferenčného pripájania.</a:t>
            </a:r>
          </a:p>
          <a:p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Zástupný objekt pre číslo snímky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B520EB-4DD3-43FA-AF8C-5E5593FD7DA4}" type="slidenum">
              <a:rPr lang="sk-SK" smtClean="0"/>
              <a:t>15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377621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á snímka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3140EA08-901F-4180-AF6E-69D292EACCF5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1704E30E-4B29-4C47-A716-6C5DBA3E5047}" type="slidenum">
              <a:rPr lang="sk-SK" smtClean="0"/>
              <a:t>‹#›</a:t>
            </a:fld>
            <a:endParaRPr lang="sk-SK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29017628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EA08-901F-4180-AF6E-69D292EACCF5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30E-4B29-4C47-A716-6C5DBA3E504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218973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EA08-901F-4180-AF6E-69D292EACCF5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30E-4B29-4C47-A716-6C5DBA3E5047}" type="slidenum">
              <a:rPr lang="sk-SK" smtClean="0"/>
              <a:t>‹#›</a:t>
            </a:fld>
            <a:endParaRPr lang="sk-SK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10303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EA08-901F-4180-AF6E-69D292EACCF5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30E-4B29-4C47-A716-6C5DBA3E504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94651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EA08-901F-4180-AF6E-69D292EACCF5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30E-4B29-4C47-A716-6C5DBA3E504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4287232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EA08-901F-4180-AF6E-69D292EACCF5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30E-4B29-4C47-A716-6C5DBA3E504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94177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EA08-901F-4180-AF6E-69D292EACCF5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30E-4B29-4C47-A716-6C5DBA3E504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8819211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EA08-901F-4180-AF6E-69D292EACCF5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30E-4B29-4C47-A716-6C5DBA3E504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19451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EA08-901F-4180-AF6E-69D292EACCF5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30E-4B29-4C47-A716-6C5DBA3E504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639533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EA08-901F-4180-AF6E-69D292EACCF5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30E-4B29-4C47-A716-6C5DBA3E504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787154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40EA08-901F-4180-AF6E-69D292EACCF5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04E30E-4B29-4C47-A716-6C5DBA3E504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42612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140EA08-901F-4180-AF6E-69D292EACCF5}" type="datetimeFigureOut">
              <a:rPr lang="sk-SK" smtClean="0"/>
              <a:t>14. 5. 2026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1704E30E-4B29-4C47-A716-6C5DBA3E5047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875709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604.00834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etra.uniba.sk/?fn=detailBiblioFormChildM12I2&amp;sid=FB57F9A55C85C1C4C89075265B&amp;seo=PETRA-detail-kapitola-/-pr%C3%ADspevok" TargetMode="External"/><Relationship Id="rId5" Type="http://schemas.openxmlformats.org/officeDocument/2006/relationships/hyperlink" Target="https://www.researchgate.net/publication/11606991_Language_as_an_Evolving_Word_Web" TargetMode="External"/><Relationship Id="rId4" Type="http://schemas.openxmlformats.org/officeDocument/2006/relationships/hyperlink" Target="https://networksciencebook.com/" TargetMode="Externa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99CB7BA-06C4-73BC-CA1C-F7E3D4D7D8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8071" y="758952"/>
            <a:ext cx="10874829" cy="2980291"/>
          </a:xfrm>
        </p:spPr>
        <p:txBody>
          <a:bodyPr>
            <a:normAutofit fontScale="90000"/>
          </a:bodyPr>
          <a:lstStyle/>
          <a:p>
            <a:pPr algn="ctr"/>
            <a:b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k-SK" sz="6000" dirty="0">
                <a:latin typeface="Arial" panose="020B0604020202020204" pitchFamily="34" charset="0"/>
                <a:cs typeface="Arial" panose="020B0604020202020204" pitchFamily="34" charset="0"/>
              </a:rPr>
              <a:t> Model distribúcie interpunkčných znamienok v rôznych textoch </a:t>
            </a:r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6C706C7-DCF5-ACC7-51EE-127297D334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67562" y="4501242"/>
            <a:ext cx="9056876" cy="1691640"/>
          </a:xfrm>
        </p:spPr>
        <p:txBody>
          <a:bodyPr>
            <a:normAutofit/>
          </a:bodyPr>
          <a:lstStyle/>
          <a:p>
            <a:pPr algn="ctr"/>
            <a:r>
              <a:rPr lang="sk-SK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Študent: Zdenko Németh</a:t>
            </a:r>
          </a:p>
          <a:p>
            <a:pPr algn="ctr"/>
            <a:r>
              <a:rPr lang="sk-SK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Vedúci práce: Doc. RNDr. Mária Markošová, PhD </a:t>
            </a:r>
          </a:p>
        </p:txBody>
      </p:sp>
    </p:spTree>
    <p:extLst>
      <p:ext uri="{BB962C8B-B14F-4D97-AF65-F5344CB8AC3E}">
        <p14:creationId xmlns:p14="http://schemas.microsoft.com/office/powerpoint/2010/main" val="2916882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0431E-0B04-44A1-9C51-531E28D18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CDB0A2E-0AC2-9D27-E6EC-790670FA2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131717"/>
            <a:ext cx="9692640" cy="1325562"/>
          </a:xfrm>
        </p:spPr>
        <p:txBody>
          <a:bodyPr>
            <a:normAutofit/>
          </a:bodyPr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Anotácia 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226E0D9-0596-1C0E-E2C5-00E58C472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49680" y="1457279"/>
            <a:ext cx="8595360" cy="4351337"/>
          </a:xfrm>
        </p:spPr>
        <p:txBody>
          <a:bodyPr>
            <a:normAutofit/>
          </a:bodyPr>
          <a:lstStyle/>
          <a:p>
            <a:pPr algn="just"/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Študent naprogramuje, alebo použije už naprogramovanú aplikáciu na hľadanie distribúcie interpunkčných znamienok v textoch v rôznych jazykoch. Ak študent použije hotovú aplikáciu, musí k nej doprogramovať všetko potrebné na analýzu distribúcie a na tvorbu jej modelu. Študent zanalyzuje distribúcie z textov toho istého autora v rôznych časových obdobiach aby zistil, ako sa táto vlastnosť textu mení a nakoľko ostáva stabilná. Navrhne matematický model tejto distribúcie, poprípade nájde parametre známeho matematického modelu, ktoré budú čo najlepšie vystihovať nameranú distribúciu. Porovná texty vygenerované AI v štýle nejakého spisovateľa s jeho originálnymi textami.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424749-EEE0-49C9-9ABF-97B171A3E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5" name="Nadpis 1">
            <a:extLst>
              <a:ext uri="{FF2B5EF4-FFF2-40B4-BE49-F238E27FC236}">
                <a16:creationId xmlns:a16="http://schemas.microsoft.com/office/drawing/2014/main" id="{05CDCF28-2A44-B2F4-4B9F-E25CB3D3F03F}"/>
              </a:ext>
            </a:extLst>
          </p:cNvPr>
          <p:cNvSpPr txBox="1">
            <a:spLocks/>
          </p:cNvSpPr>
          <p:nvPr/>
        </p:nvSpPr>
        <p:spPr>
          <a:xfrm>
            <a:off x="1249680" y="3332117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 spc="-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Cieľ </a:t>
            </a:r>
          </a:p>
        </p:txBody>
      </p:sp>
      <p:sp>
        <p:nvSpPr>
          <p:cNvPr id="6" name="Zástupný objekt pre obsah 2">
            <a:extLst>
              <a:ext uri="{FF2B5EF4-FFF2-40B4-BE49-F238E27FC236}">
                <a16:creationId xmlns:a16="http://schemas.microsoft.com/office/drawing/2014/main" id="{E15BC006-AE90-D31B-9BA2-986A835EB706}"/>
              </a:ext>
            </a:extLst>
          </p:cNvPr>
          <p:cNvSpPr txBox="1">
            <a:spLocks/>
          </p:cNvSpPr>
          <p:nvPr/>
        </p:nvSpPr>
        <p:spPr>
          <a:xfrm>
            <a:off x="1249680" y="4682331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lnSpc>
                <a:spcPct val="95000"/>
              </a:lnSpc>
              <a:spcBef>
                <a:spcPts val="1400"/>
              </a:spcBef>
              <a:spcAft>
                <a:spcPts val="200"/>
              </a:spcAft>
              <a:buClr>
                <a:schemeClr val="accent1"/>
              </a:buClr>
              <a:buSzPct val="80000"/>
              <a:buFont typeface="Arial" pitchFamily="34" charset="0"/>
              <a:buChar char="•"/>
              <a:defRPr sz="1800" kern="1200" spc="1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280160" indent="-18288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6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0" hangingPunct="1">
              <a:lnSpc>
                <a:spcPct val="90000"/>
              </a:lnSpc>
              <a:spcBef>
                <a:spcPts val="300"/>
              </a:spcBef>
              <a:spcAft>
                <a:spcPts val="300"/>
              </a:spcAft>
              <a:buClr>
                <a:schemeClr val="accent1"/>
              </a:buClr>
              <a:buFont typeface="Wingdings 2" pitchFamily="18" charset="2"/>
              <a:buChar char=""/>
              <a:defRPr sz="1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Naprogramovať aplikáciu, alebo doprogramovať potrebné nástroje do aplikácie na analýzu distribúcií interpunkčných znamienok v textoch a vytvoriť matematický model opisujúci získané výsledky.</a:t>
            </a:r>
          </a:p>
        </p:txBody>
      </p:sp>
    </p:spTree>
    <p:extLst>
      <p:ext uri="{BB962C8B-B14F-4D97-AF65-F5344CB8AC3E}">
        <p14:creationId xmlns:p14="http://schemas.microsoft.com/office/powerpoint/2010/main" val="1054636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0431E-0B04-44A1-9C51-531E28D18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19C9690-F1F6-589E-440E-205F7EC633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5429" y="365760"/>
            <a:ext cx="10519083" cy="1325562"/>
          </a:xfrm>
        </p:spPr>
        <p:txBody>
          <a:bodyPr>
            <a:normAutofit/>
          </a:bodyPr>
          <a:lstStyle/>
          <a:p>
            <a:pPr algn="ctr"/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Existujúca aplikácia z bakalárskej práce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99D4D235-790D-5820-8B5D-2A3F9BF584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351337"/>
          </a:xfrm>
        </p:spPr>
        <p:txBody>
          <a:bodyPr>
            <a:normAutofit/>
          </a:bodyPr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Aplikácia bola vytvorená v rámci bakalárskej práce.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Umožňuje tvorbu pozičných slovných sietí z textu.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Implementované:</a:t>
            </a:r>
          </a:p>
          <a:p>
            <a:pPr lvl="1"/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tokenizácia textu</a:t>
            </a:r>
          </a:p>
          <a:p>
            <a:pPr lvl="1"/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možnosť výberu jazyka</a:t>
            </a:r>
          </a:p>
          <a:p>
            <a:pPr lvl="1"/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možnosť výberu interpunkcie pre analýzu</a:t>
            </a:r>
          </a:p>
          <a:p>
            <a:pPr lvl="1"/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tvorba pozičnej slovnej siete</a:t>
            </a:r>
          </a:p>
          <a:p>
            <a:pPr lvl="1"/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výpočet základnej grafovej a jazykovej analýzy</a:t>
            </a:r>
          </a:p>
          <a:p>
            <a:pPr lvl="1"/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distribúcia stupňov vrcholov</a:t>
            </a:r>
          </a:p>
          <a:p>
            <a:pPr lvl="1"/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vývoj slovnej siete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Podporovala 2 jazyky: Angličtinu a Nemčinu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424749-EEE0-49C9-9ABF-97B171A3E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545475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489AE6DA-A080-475C-BE02-EF343FBA6E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B33EF95-E91B-40C4-A692-E910652916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953CAC5D-D424-4EE2-A0C2-72ED7A88AA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6568" cy="589788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554DAE0-B2AD-D6A7-CEE3-04A128543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43467" y="720348"/>
            <a:ext cx="5371395" cy="5417304"/>
          </a:xfrm>
          <a:prstGeom prst="rect">
            <a:avLst/>
          </a:prstGeom>
        </p:spPr>
      </p:pic>
      <p:pic>
        <p:nvPicPr>
          <p:cNvPr id="6" name="Obrázok 5">
            <a:extLst>
              <a:ext uri="{FF2B5EF4-FFF2-40B4-BE49-F238E27FC236}">
                <a16:creationId xmlns:a16="http://schemas.microsoft.com/office/drawing/2014/main" id="{270E3E2D-979E-7A77-AED0-450C37984AE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5729" y="1318188"/>
            <a:ext cx="5371395" cy="421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966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E99ED6D-365F-4CAE-942F-ECA78F74B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42F24F1-C1EF-471F-A19B-A340CE541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56C425C-3C64-47BA-B583-94D39B9B7F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6568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4B6A9D3E-8529-4981-AC9B-AB3D2C4090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381956" y="643467"/>
            <a:ext cx="7428088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893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0431E-0B04-44A1-9C51-531E28D18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0B63C9A-F7AB-BF1D-BB93-DFD7EA687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Pozičné slovné siete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F790744-685E-BD75-7739-C7473322E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351337"/>
          </a:xfrm>
        </p:spPr>
        <p:txBody>
          <a:bodyPr>
            <a:normAutofit/>
          </a:bodyPr>
          <a:lstStyle/>
          <a:p>
            <a:r>
              <a:rPr lang="sk-SK" dirty="0"/>
              <a:t>Uzly reprezentujú slová</a:t>
            </a:r>
          </a:p>
          <a:p>
            <a:r>
              <a:rPr lang="sk-SK" dirty="0"/>
              <a:t>Hrany vznikajú medzi susednými slovami v texte</a:t>
            </a:r>
          </a:p>
          <a:p>
            <a:r>
              <a:rPr lang="sk-SK" dirty="0"/>
              <a:t>Sieť zachytáva lokálne vzťahy medzi slovami</a:t>
            </a:r>
          </a:p>
          <a:p>
            <a:endParaRPr lang="sk-SK" dirty="0"/>
          </a:p>
          <a:p>
            <a:endParaRPr lang="sk-SK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424749-EEE0-49C9-9ABF-97B171A3E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95F4AD38-7718-8552-A934-9AB4819971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1872" y="5094407"/>
            <a:ext cx="5763429" cy="562053"/>
          </a:xfrm>
          <a:prstGeom prst="rect">
            <a:avLst/>
          </a:prstGeom>
        </p:spPr>
      </p:pic>
      <p:pic>
        <p:nvPicPr>
          <p:cNvPr id="7" name="Obrázok 6">
            <a:extLst>
              <a:ext uri="{FF2B5EF4-FFF2-40B4-BE49-F238E27FC236}">
                <a16:creationId xmlns:a16="http://schemas.microsoft.com/office/drawing/2014/main" id="{BBDF81CE-AF51-A015-63B0-100EE82527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5258" y="3863845"/>
            <a:ext cx="3312037" cy="706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881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76248C8-0720-48AB-91BA-5F530BB41E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2209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E57A7AA9-D7AC-BB3F-C237-80524F5AD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1" y="365760"/>
            <a:ext cx="9858383" cy="1325562"/>
          </a:xfrm>
        </p:spPr>
        <p:txBody>
          <a:bodyPr>
            <a:normAutofit/>
          </a:bodyPr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Rozšírenia aplikácie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23BEDA7-D0B8-4802-8168-92452653B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2EFF34B-7B1A-4F9D-8CEE-A40962BC7C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3724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graphicFrame>
        <p:nvGraphicFramePr>
          <p:cNvPr id="19" name="Zástupný objekt pre obsah 2">
            <a:extLst>
              <a:ext uri="{FF2B5EF4-FFF2-40B4-BE49-F238E27FC236}">
                <a16:creationId xmlns:a16="http://schemas.microsoft.com/office/drawing/2014/main" id="{7406B6F3-1BBE-0814-A866-617D14BB678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67891803"/>
              </p:ext>
            </p:extLst>
          </p:nvPr>
        </p:nvGraphicFramePr>
        <p:xfrm>
          <a:off x="1262063" y="2013055"/>
          <a:ext cx="9858191" cy="4201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03663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0431E-0B04-44A1-9C51-531E28D18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8C4EA75-0D5F-EAF6-6E4E-0F8A87E55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Rozšírenie aplikácie pomocou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UDPipe</a:t>
            </a:r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A938D4E8-6C9A-8417-0653-9DFE536DE7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351337"/>
          </a:xfrm>
        </p:spPr>
        <p:txBody>
          <a:bodyPr>
            <a:normAutofit/>
          </a:bodyPr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pôvodná aplikácia používala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regex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tokenizáciu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problém:</a:t>
            </a:r>
          </a:p>
          <a:p>
            <a:pPr lvl="1"/>
            <a:r>
              <a:rPr lang="sk-SK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rôzne tvary slov</a:t>
            </a:r>
          </a:p>
          <a:p>
            <a:pPr lvl="1"/>
            <a:r>
              <a:rPr lang="sk-SK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skloňovanie</a:t>
            </a:r>
          </a:p>
          <a:p>
            <a:pPr lvl="1"/>
            <a:r>
              <a:rPr lang="sk-SK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časovanie</a:t>
            </a:r>
          </a:p>
          <a:p>
            <a:pPr lvl="1"/>
            <a:r>
              <a:rPr lang="sk-SK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rozdielne jazyky znamenalo komplexná implementácia</a:t>
            </a:r>
          </a:p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výhody:</a:t>
            </a:r>
          </a:p>
          <a:p>
            <a:pPr lvl="1"/>
            <a:r>
              <a:rPr lang="sk-SK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presnejšia tokenizácia textu</a:t>
            </a:r>
          </a:p>
          <a:p>
            <a:pPr lvl="1"/>
            <a:r>
              <a:rPr lang="sk-SK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konzistentnejšie vytváranie pozičných slovných sietí</a:t>
            </a:r>
          </a:p>
          <a:p>
            <a:pPr lvl="1"/>
            <a:r>
              <a:rPr lang="sk-SK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lemmatizácia</a:t>
            </a:r>
            <a:r>
              <a:rPr lang="sk-SK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slov do základného tvaru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424749-EEE0-49C9-9ABF-97B171A3E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pic>
        <p:nvPicPr>
          <p:cNvPr id="7" name="Obrázok 6">
            <a:extLst>
              <a:ext uri="{FF2B5EF4-FFF2-40B4-BE49-F238E27FC236}">
                <a16:creationId xmlns:a16="http://schemas.microsoft.com/office/drawing/2014/main" id="{5C3D4465-3ACF-7883-7B62-38874F82AA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94" y="5445186"/>
            <a:ext cx="11084506" cy="734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6553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0B3D270-B19D-4DB8-BD3C-3E707485B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54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1BC5274-FAF0-4B00-3E27-6450F42CE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630" y="804672"/>
            <a:ext cx="3396342" cy="5183777"/>
          </a:xfrm>
        </p:spPr>
        <p:txBody>
          <a:bodyPr anchor="ctr">
            <a:normAutofit/>
          </a:bodyPr>
          <a:lstStyle/>
          <a:p>
            <a:r>
              <a:rPr lang="en-US" sz="3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Porovnanie</a:t>
            </a:r>
            <a:r>
              <a:rPr lang="en-US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Regex </a:t>
            </a:r>
            <a:r>
              <a:rPr lang="en-US" sz="3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predspracovania</a:t>
            </a:r>
            <a:r>
              <a:rPr lang="en-US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textu</a:t>
            </a:r>
            <a:r>
              <a:rPr lang="en-US" sz="32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lang="en-US" sz="320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UDPipe</a:t>
            </a:r>
            <a:endParaRPr lang="sk-SK" sz="320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BDAF94-B52E-4307-B54C-EF413086F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D787C055-2355-83A6-5DE0-39B6822736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99793120"/>
              </p:ext>
            </p:extLst>
          </p:nvPr>
        </p:nvGraphicFramePr>
        <p:xfrm>
          <a:off x="4959009" y="804672"/>
          <a:ext cx="5389750" cy="5262060"/>
        </p:xfrm>
        <a:graphic>
          <a:graphicData uri="http://schemas.openxmlformats.org/drawingml/2006/table">
            <a:tbl>
              <a:tblPr firstRow="1" bandRow="1"/>
              <a:tblGrid>
                <a:gridCol w="1825268">
                  <a:extLst>
                    <a:ext uri="{9D8B030D-6E8A-4147-A177-3AD203B41FA5}">
                      <a16:colId xmlns:a16="http://schemas.microsoft.com/office/drawing/2014/main" val="4226435326"/>
                    </a:ext>
                  </a:extLst>
                </a:gridCol>
                <a:gridCol w="1740958">
                  <a:extLst>
                    <a:ext uri="{9D8B030D-6E8A-4147-A177-3AD203B41FA5}">
                      <a16:colId xmlns:a16="http://schemas.microsoft.com/office/drawing/2014/main" val="4015871468"/>
                    </a:ext>
                  </a:extLst>
                </a:gridCol>
                <a:gridCol w="1823524">
                  <a:extLst>
                    <a:ext uri="{9D8B030D-6E8A-4147-A177-3AD203B41FA5}">
                      <a16:colId xmlns:a16="http://schemas.microsoft.com/office/drawing/2014/main" val="1892678017"/>
                    </a:ext>
                  </a:extLst>
                </a:gridCol>
              </a:tblGrid>
              <a:tr h="26310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sk-S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US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Regex</a:t>
                      </a:r>
                      <a:endParaRPr lang="sk-S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UDPipe</a:t>
                      </a:r>
                      <a:endParaRPr lang="sk-S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66593"/>
                  </a:ext>
                </a:extLst>
              </a:tr>
              <a:tr h="263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k-SK" sz="1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</a:t>
                      </a:r>
                      <a:r>
                        <a:rPr lang="sk-SK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of </a:t>
                      </a:r>
                      <a:r>
                        <a:rPr lang="sk-SK" sz="1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nodes</a:t>
                      </a:r>
                      <a:endParaRPr lang="sk-S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3725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3230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7619381"/>
                  </a:ext>
                </a:extLst>
              </a:tr>
              <a:tr h="263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edges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14164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13077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374913"/>
                  </a:ext>
                </a:extLst>
              </a:tr>
              <a:tr h="263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degree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942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845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279955"/>
                  </a:ext>
                </a:extLst>
              </a:tr>
              <a:tr h="263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degree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7.60483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8.09721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84221"/>
                  </a:ext>
                </a:extLst>
              </a:tr>
              <a:tr h="263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Network density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0.00204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0.00251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6400338"/>
                  </a:ext>
                </a:extLst>
              </a:tr>
              <a:tr h="263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k-SK" sz="1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Clustering</a:t>
                      </a:r>
                      <a:r>
                        <a:rPr lang="sk-SK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sk-SK" sz="11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coefficient</a:t>
                      </a:r>
                      <a:endParaRPr lang="sk-SK" sz="11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0.35024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0.40852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0508643"/>
                  </a:ext>
                </a:extLst>
              </a:tr>
              <a:tr h="263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Avg shortest path length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2.91347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2.82903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1885666"/>
                  </a:ext>
                </a:extLst>
              </a:tr>
              <a:tr h="263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Diameter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5306183"/>
                  </a:ext>
                </a:extLst>
              </a:tr>
              <a:tr h="263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words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3725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3230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5844058"/>
                  </a:ext>
                </a:extLst>
              </a:tr>
              <a:tr h="263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word length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9515782"/>
                  </a:ext>
                </a:extLst>
              </a:tr>
              <a:tr h="263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word length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6.46819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6.18762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59983"/>
                  </a:ext>
                </a:extLst>
              </a:tr>
              <a:tr h="263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sentences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1329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1288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3780274"/>
                  </a:ext>
                </a:extLst>
              </a:tr>
              <a:tr h="263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sentence length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15.99473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16.73137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370882"/>
                  </a:ext>
                </a:extLst>
              </a:tr>
              <a:tr h="263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bigrams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14731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13857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7487654"/>
                  </a:ext>
                </a:extLst>
              </a:tr>
              <a:tr h="263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bigram frequency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119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155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012814"/>
                  </a:ext>
                </a:extLst>
              </a:tr>
              <a:tr h="263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bigram frequency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1.46256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1.55676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6170601"/>
                  </a:ext>
                </a:extLst>
              </a:tr>
              <a:tr h="263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trigrams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20238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20016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293101"/>
                  </a:ext>
                </a:extLst>
              </a:tr>
              <a:tr h="263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Max trigram frequency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1414081"/>
                  </a:ext>
                </a:extLst>
              </a:tr>
              <a:tr h="2631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Average trigram frequency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1.06453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sk-SK" sz="11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1.07769</a:t>
                      </a:r>
                    </a:p>
                  </a:txBody>
                  <a:tcPr marL="55567" marR="55567" marT="27783" marB="277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6406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6632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0431E-0B04-44A1-9C51-531E28D18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751EAB9-393C-D10C-1242-AE43CE1D88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9680" y="2330791"/>
            <a:ext cx="9692640" cy="1325562"/>
          </a:xfrm>
        </p:spPr>
        <p:txBody>
          <a:bodyPr>
            <a:normAutofit/>
          </a:bodyPr>
          <a:lstStyle/>
          <a:p>
            <a:pPr algn="ctr"/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Grafová a Jazyková Analýza</a:t>
            </a:r>
            <a:b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Experimenty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424749-EEE0-49C9-9ABF-97B171A3E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301740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0B3D270-B19D-4DB8-BD3C-3E707485B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54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7C415DD9-6519-CFF2-BE3D-91D66C88A1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8" y="836023"/>
            <a:ext cx="2718788" cy="5183777"/>
          </a:xfrm>
        </p:spPr>
        <p:txBody>
          <a:bodyPr anchor="ctr">
            <a:normAutofit/>
          </a:bodyPr>
          <a:lstStyle/>
          <a:p>
            <a:r>
              <a:rPr lang="sk-SK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Vplyv permutácie textu na pozičné slovné siete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9BDAF94-B52E-4307-B54C-EF413086F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graphicFrame>
        <p:nvGraphicFramePr>
          <p:cNvPr id="4" name="Zástupný objekt pre obsah 3">
            <a:extLst>
              <a:ext uri="{FF2B5EF4-FFF2-40B4-BE49-F238E27FC236}">
                <a16:creationId xmlns:a16="http://schemas.microsoft.com/office/drawing/2014/main" id="{0A3A922A-B8F0-3FBF-5EA0-821A8637E6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6292045"/>
              </p:ext>
            </p:extLst>
          </p:nvPr>
        </p:nvGraphicFramePr>
        <p:xfrm>
          <a:off x="4801440" y="804672"/>
          <a:ext cx="5704887" cy="5262069"/>
        </p:xfrm>
        <a:graphic>
          <a:graphicData uri="http://schemas.openxmlformats.org/drawingml/2006/table">
            <a:tbl>
              <a:tblPr/>
              <a:tblGrid>
                <a:gridCol w="2067292">
                  <a:extLst>
                    <a:ext uri="{9D8B030D-6E8A-4147-A177-3AD203B41FA5}">
                      <a16:colId xmlns:a16="http://schemas.microsoft.com/office/drawing/2014/main" val="1522675971"/>
                    </a:ext>
                  </a:extLst>
                </a:gridCol>
                <a:gridCol w="948301">
                  <a:extLst>
                    <a:ext uri="{9D8B030D-6E8A-4147-A177-3AD203B41FA5}">
                      <a16:colId xmlns:a16="http://schemas.microsoft.com/office/drawing/2014/main" val="1411456153"/>
                    </a:ext>
                  </a:extLst>
                </a:gridCol>
                <a:gridCol w="1490312">
                  <a:extLst>
                    <a:ext uri="{9D8B030D-6E8A-4147-A177-3AD203B41FA5}">
                      <a16:colId xmlns:a16="http://schemas.microsoft.com/office/drawing/2014/main" val="3791115676"/>
                    </a:ext>
                  </a:extLst>
                </a:gridCol>
                <a:gridCol w="1198982">
                  <a:extLst>
                    <a:ext uri="{9D8B030D-6E8A-4147-A177-3AD203B41FA5}">
                      <a16:colId xmlns:a16="http://schemas.microsoft.com/office/drawing/2014/main" val="3788277443"/>
                    </a:ext>
                  </a:extLst>
                </a:gridCol>
              </a:tblGrid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sk-SK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No Shuffle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Shuffle Sentences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Shuffle Words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2878573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Number of nodes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3230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3230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3230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8364296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Number of edges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13077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13103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14736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805167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Max degree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845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848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802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6405822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 dirty="0" err="1">
                          <a:effectLst/>
                          <a:latin typeface="Arial" panose="020B0604020202020204" pitchFamily="34" charset="0"/>
                        </a:rPr>
                        <a:t>Average</a:t>
                      </a:r>
                      <a:r>
                        <a:rPr lang="sk-SK" sz="12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sk-SK" sz="1200" b="0" i="0" u="none" strike="noStrike" dirty="0" err="1">
                          <a:effectLst/>
                          <a:latin typeface="Arial" panose="020B0604020202020204" pitchFamily="34" charset="0"/>
                        </a:rPr>
                        <a:t>degree</a:t>
                      </a:r>
                      <a:endParaRPr lang="sk-SK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8.09721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8.11331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9.12446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6945445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Network density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0.00251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0.00251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0.00283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2362253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Clustering coefficient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0.40852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0.40772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0.39859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55411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 dirty="0" err="1">
                          <a:effectLst/>
                          <a:latin typeface="Arial" panose="020B0604020202020204" pitchFamily="34" charset="0"/>
                        </a:rPr>
                        <a:t>Avg</a:t>
                      </a:r>
                      <a:r>
                        <a:rPr lang="sk-SK" sz="12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sk-SK" sz="1200" b="0" i="0" u="none" strike="noStrike" dirty="0" err="1">
                          <a:effectLst/>
                          <a:latin typeface="Arial" panose="020B0604020202020204" pitchFamily="34" charset="0"/>
                        </a:rPr>
                        <a:t>shortest</a:t>
                      </a:r>
                      <a:r>
                        <a:rPr lang="sk-SK" sz="12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sk-SK" sz="1200" b="0" i="0" u="none" strike="noStrike" dirty="0" err="1">
                          <a:effectLst/>
                          <a:latin typeface="Arial" panose="020B0604020202020204" pitchFamily="34" charset="0"/>
                        </a:rPr>
                        <a:t>path</a:t>
                      </a:r>
                      <a:r>
                        <a:rPr lang="sk-SK" sz="12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sk-SK" sz="1200" b="0" i="0" u="none" strike="noStrike" dirty="0" err="1">
                          <a:effectLst/>
                          <a:latin typeface="Arial" panose="020B0604020202020204" pitchFamily="34" charset="0"/>
                        </a:rPr>
                        <a:t>length</a:t>
                      </a:r>
                      <a:endParaRPr lang="sk-SK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2.82903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2.82374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2.88044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0671462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Diameter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51105919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Number of words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3230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3230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3230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6565507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Average word length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6.18762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6.18762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6.18762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7933848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Number of sentences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1288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1288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1228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15404076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Average sentence length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16.73137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16.73758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17.58795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454180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Number of bigrams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13857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13865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16175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719652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Max bigram frequency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155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155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58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211117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Average bigram frequency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1.55676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1.55586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1.33366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7520913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Number of trigrams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20016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20022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21288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1366551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Max trigram frequency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22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693908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Average trigram frequency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1.07769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1.07736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 dirty="0">
                          <a:effectLst/>
                          <a:latin typeface="Arial" panose="020B0604020202020204" pitchFamily="34" charset="0"/>
                        </a:rPr>
                        <a:t>1.01329</a:t>
                      </a:r>
                    </a:p>
                  </a:txBody>
                  <a:tcPr marL="62943" marR="62943" marT="31472" marB="3147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02509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2004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30B3D270-B19D-4DB8-BD3C-3E707485B5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541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0C06AC0E-E21B-2E53-C2AB-319A54D2E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058" y="836023"/>
            <a:ext cx="2718788" cy="5183777"/>
          </a:xfrm>
        </p:spPr>
        <p:txBody>
          <a:bodyPr anchor="ctr">
            <a:normAutofit/>
          </a:bodyPr>
          <a:lstStyle/>
          <a:p>
            <a:r>
              <a:rPr lang="sk-SK" sz="36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Porovnanie reálneho a AI generovaného textu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9BDAF94-B52E-4307-B54C-EF413086FC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graphicFrame>
        <p:nvGraphicFramePr>
          <p:cNvPr id="5" name="Zástupný objekt pre obsah 4">
            <a:extLst>
              <a:ext uri="{FF2B5EF4-FFF2-40B4-BE49-F238E27FC236}">
                <a16:creationId xmlns:a16="http://schemas.microsoft.com/office/drawing/2014/main" id="{F549734C-CD13-4219-B30F-A0CE01BC37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7593915"/>
              </p:ext>
            </p:extLst>
          </p:nvPr>
        </p:nvGraphicFramePr>
        <p:xfrm>
          <a:off x="4882935" y="804672"/>
          <a:ext cx="5541897" cy="5262069"/>
        </p:xfrm>
        <a:graphic>
          <a:graphicData uri="http://schemas.openxmlformats.org/drawingml/2006/table">
            <a:tbl>
              <a:tblPr firstRow="1" bandRow="1"/>
              <a:tblGrid>
                <a:gridCol w="2006902">
                  <a:extLst>
                    <a:ext uri="{9D8B030D-6E8A-4147-A177-3AD203B41FA5}">
                      <a16:colId xmlns:a16="http://schemas.microsoft.com/office/drawing/2014/main" val="817032544"/>
                    </a:ext>
                  </a:extLst>
                </a:gridCol>
                <a:gridCol w="1817337">
                  <a:extLst>
                    <a:ext uri="{9D8B030D-6E8A-4147-A177-3AD203B41FA5}">
                      <a16:colId xmlns:a16="http://schemas.microsoft.com/office/drawing/2014/main" val="2985090088"/>
                    </a:ext>
                  </a:extLst>
                </a:gridCol>
                <a:gridCol w="1717658">
                  <a:extLst>
                    <a:ext uri="{9D8B030D-6E8A-4147-A177-3AD203B41FA5}">
                      <a16:colId xmlns:a16="http://schemas.microsoft.com/office/drawing/2014/main" val="3849762870"/>
                    </a:ext>
                  </a:extLst>
                </a:gridCol>
              </a:tblGrid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sk-SK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AI Generated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Original Text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963253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Number of nodes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2481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2498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3126716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Number of edges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10002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11198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041082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Max degree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782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658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1385003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Average degree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8.06288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8.96557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355315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 dirty="0" err="1">
                          <a:effectLst/>
                          <a:latin typeface="Arial" panose="020B0604020202020204" pitchFamily="34" charset="0"/>
                        </a:rPr>
                        <a:t>Network</a:t>
                      </a:r>
                      <a:r>
                        <a:rPr lang="sk-SK" sz="1200" b="0" i="0" u="none" strike="noStrike" dirty="0">
                          <a:effectLst/>
                          <a:latin typeface="Arial" panose="020B0604020202020204" pitchFamily="34" charset="0"/>
                        </a:rPr>
                        <a:t> </a:t>
                      </a:r>
                      <a:r>
                        <a:rPr lang="sk-SK" sz="1200" b="0" i="0" u="none" strike="noStrike" dirty="0" err="1">
                          <a:effectLst/>
                          <a:latin typeface="Arial" panose="020B0604020202020204" pitchFamily="34" charset="0"/>
                        </a:rPr>
                        <a:t>density</a:t>
                      </a:r>
                      <a:endParaRPr lang="sk-SK" sz="12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0.00325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0.00359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400614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Clustering coefficient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0.30653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0.40550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483302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Avg shortest path length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2.86379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2.79347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0625235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Diameter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529471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Number of words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2481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2498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7242179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Average word length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6.16969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6.28423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2030640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Number of sentences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1277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1622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882436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Average sentence length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13.37745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12.39211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816910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Number of bigrams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10369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11932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1324309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Max bigram frequency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249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130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61431834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Average bigram frequency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1.64760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1.68530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9312857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Number of trigrams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14724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18147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8800865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Max trigram frequency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54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45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5152353"/>
                  </a:ext>
                </a:extLst>
              </a:tr>
              <a:tr h="27695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Average trigram frequency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>
                          <a:effectLst/>
                          <a:latin typeface="Arial" panose="020B0604020202020204" pitchFamily="34" charset="0"/>
                        </a:rPr>
                        <a:t>1.16021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sk-SK" sz="1200" b="0" i="0" u="none" strike="noStrike" dirty="0">
                          <a:effectLst/>
                          <a:latin typeface="Arial" panose="020B0604020202020204" pitchFamily="34" charset="0"/>
                        </a:rPr>
                        <a:t>1.10806</a:t>
                      </a:r>
                    </a:p>
                  </a:txBody>
                  <a:tcPr marL="60575" marR="60575" marT="30288" marB="3028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0263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68496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0431E-0B04-44A1-9C51-531E28D18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ACC0826E-826D-C367-2F66-29E6BD917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Modely</a:t>
            </a:r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6CF00A3-6BFB-0ED5-EA46-86B5391252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351337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Zipf Law</a:t>
            </a:r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nn-NO" dirty="0">
                <a:latin typeface="Arial" panose="020B0604020202020204" pitchFamily="34" charset="0"/>
                <a:cs typeface="Arial" panose="020B0604020202020204" pitchFamily="34" charset="0"/>
              </a:rPr>
              <a:t>frekvencia slova ~ 1/rank^α</a:t>
            </a:r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overenie prirodzenej jazykovej distribúcie slov</a:t>
            </a:r>
          </a:p>
          <a:p>
            <a:pPr marL="342900" indent="-342900">
              <a:buFont typeface="+mj-lt"/>
              <a:buAutoNum type="arabicPeriod"/>
            </a:pP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Simon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/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Yule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</a:p>
          <a:p>
            <a:pPr lvl="1"/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model vzniku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Zipfovej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distribúcie slov</a:t>
            </a:r>
          </a:p>
          <a:p>
            <a:pPr marL="342900" indent="-342900">
              <a:buFont typeface="+mj-lt"/>
              <a:buAutoNum type="arabicPeriod"/>
            </a:pP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Dorogovtsev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Mendes</a:t>
            </a:r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rastúca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scale-free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sieť s vysokým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clusteringom</a:t>
            </a:r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Barabási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–Albert</a:t>
            </a:r>
          </a:p>
          <a:p>
            <a:pPr lvl="1"/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preferenčné pripájanie nových uzlov,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power-law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degree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distribúcia</a:t>
            </a:r>
          </a:p>
          <a:p>
            <a:pPr marL="342900" indent="-342900">
              <a:buFont typeface="+mj-lt"/>
              <a:buAutoNum type="arabicPeriod"/>
            </a:pP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Fitness model (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Bianconi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Barabási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uzly majú rôznu „atraktivitu“ (fitness)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424749-EEE0-49C9-9ABF-97B171A3E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3308159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0431E-0B04-44A1-9C51-531E28D18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5D06E5A4-CA2C-4C05-DE62-344F3E064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Modely</a:t>
            </a:r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E9EB7C3-C42A-1F3A-EF52-5BD0463CDB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351337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Nonlinear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preferential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attachment</a:t>
            </a:r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pl-PL" dirty="0">
                <a:latin typeface="Arial" panose="020B0604020202020204" pitchFamily="34" charset="0"/>
                <a:cs typeface="Arial" panose="020B0604020202020204" pitchFamily="34" charset="0"/>
              </a:rPr>
              <a:t>rozšírenie BA modelu: pravdepodobnosť ~ k^α</a:t>
            </a:r>
          </a:p>
          <a:p>
            <a:pPr marL="342900" indent="-342900">
              <a:buFont typeface="+mj-lt"/>
              <a:buAutoNum type="arabicPeriod"/>
            </a:pP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Configuration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model</a:t>
            </a:r>
          </a:p>
          <a:p>
            <a:pPr lvl="1"/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zachová 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degree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 distribúciu siete, náhodne poprepája hrany</a:t>
            </a:r>
          </a:p>
          <a:p>
            <a:pPr marL="342900" indent="-342900">
              <a:buFont typeface="+mj-lt"/>
              <a:buAutoNum type="arabicPeriod"/>
            </a:pP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Watts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Strogatz</a:t>
            </a:r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small-world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sieť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s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krátkymi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cestami</a:t>
            </a:r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Erdős</a:t>
            </a: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</a:rPr>
              <a:t>Rényi</a:t>
            </a:r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náhodné prepájanie uzlov s pravdepodobnosťou 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424749-EEE0-49C9-9ABF-97B171A3E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724870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DB0431E-0B04-44A1-9C51-531E28D18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66EA7AC-0798-CE0B-26CB-0E2D8B4B0D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</p:spPr>
        <p:txBody>
          <a:bodyPr>
            <a:normAutofit/>
          </a:bodyPr>
          <a:lstStyle/>
          <a:p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</a:rPr>
              <a:t>Vedecké články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B14B638-F9C9-F4AD-2A7B-2EA54BB74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1872" y="1828800"/>
            <a:ext cx="8595360" cy="4351337"/>
          </a:xfrm>
        </p:spPr>
        <p:txBody>
          <a:bodyPr>
            <a:norm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In narrative texts punctuation marks obey the same statistics as words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sk-SK" dirty="0" err="1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Networksciencebook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Language as an Evolving Word Web</a:t>
            </a:r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sk-SK" dirty="0">
                <a:latin typeface="Arial" panose="020B0604020202020204" pitchFamily="34" charset="0"/>
                <a:cs typeface="Arial" panose="020B0604020202020204" pitchFamily="34" charset="0"/>
                <a:hlinkClick r:id="rId6"/>
              </a:rPr>
              <a:t>Dynamika sietí</a:t>
            </a:r>
            <a:endParaRPr lang="sk-SK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B424749-EEE0-49C9-9ABF-97B171A3EA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261497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6F05DDE-5F2C-44F5-BACC-DED4737B11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6BC6A0D-8979-47FF-B606-70528EF8E5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F051CE5C-CF94-0CCC-3B7A-F3048DED8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2594" y="758952"/>
            <a:ext cx="9056876" cy="4041648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85000"/>
              </a:lnSpc>
            </a:pPr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Ďakujem</a:t>
            </a:r>
            <a:r>
              <a:rPr lang="en-US" sz="7200" dirty="0">
                <a:latin typeface="Arial" panose="020B0604020202020204" pitchFamily="34" charset="0"/>
                <a:cs typeface="Arial" panose="020B0604020202020204" pitchFamily="34" charset="0"/>
              </a:rPr>
              <a:t> za </a:t>
            </a:r>
            <a:r>
              <a:rPr lang="en-US" sz="7200" dirty="0" err="1">
                <a:latin typeface="Arial" panose="020B0604020202020204" pitchFamily="34" charset="0"/>
                <a:cs typeface="Arial" panose="020B0604020202020204" pitchFamily="34" charset="0"/>
              </a:rPr>
              <a:t>pozornosť</a:t>
            </a:r>
            <a:endParaRPr lang="en-US" sz="7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92CCBF-1641-4D35-9B74-6E4981730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61335986"/>
      </p:ext>
    </p:extLst>
  </p:cSld>
  <p:clrMapOvr>
    <a:masterClrMapping/>
  </p:clrMapOvr>
</p:sld>
</file>

<file path=ppt/theme/theme1.xml><?xml version="1.0" encoding="utf-8"?>
<a:theme xmlns:a="http://schemas.openxmlformats.org/drawingml/2006/main" name="Pohľad">
  <a:themeElements>
    <a:clrScheme name="Pohľad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Pohľad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Pohľad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TM03457515[[fn=Pohľad]]</Template>
  <TotalTime>617</TotalTime>
  <Words>2630</Words>
  <Application>Microsoft Office PowerPoint</Application>
  <PresentationFormat>Širokouhlá</PresentationFormat>
  <Paragraphs>377</Paragraphs>
  <Slides>16</Slides>
  <Notes>15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16</vt:i4>
      </vt:variant>
    </vt:vector>
  </HeadingPairs>
  <TitlesOfParts>
    <vt:vector size="21" baseType="lpstr">
      <vt:lpstr>Aptos</vt:lpstr>
      <vt:lpstr>Arial</vt:lpstr>
      <vt:lpstr>Century Schoolbook</vt:lpstr>
      <vt:lpstr>Wingdings 2</vt:lpstr>
      <vt:lpstr>Pohľad</vt:lpstr>
      <vt:lpstr>  Model distribúcie interpunkčných znamienok v rôznych textoch </vt:lpstr>
      <vt:lpstr>Anotácia </vt:lpstr>
      <vt:lpstr>Existujúca aplikácia z bakalárskej práce</vt:lpstr>
      <vt:lpstr>Prezentácia programu PowerPoint</vt:lpstr>
      <vt:lpstr>Prezentácia programu PowerPoint</vt:lpstr>
      <vt:lpstr>Pozičné slovné siete</vt:lpstr>
      <vt:lpstr>Rozšírenia aplikácie</vt:lpstr>
      <vt:lpstr>Rozšírenie aplikácie pomocou UDPipe</vt:lpstr>
      <vt:lpstr>Porovnanie Regex predspracovania textu a UDPipe</vt:lpstr>
      <vt:lpstr>Grafová a Jazyková Analýza Experimenty</vt:lpstr>
      <vt:lpstr>Vplyv permutácie textu na pozičné slovné siete</vt:lpstr>
      <vt:lpstr>Porovnanie reálneho a AI generovaného textu</vt:lpstr>
      <vt:lpstr>Modely</vt:lpstr>
      <vt:lpstr>Modely</vt:lpstr>
      <vt:lpstr>Vedecké články</vt:lpstr>
      <vt:lpstr>Ďakujem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Zdenko Németh</dc:creator>
  <cp:lastModifiedBy>Zdenko Németh</cp:lastModifiedBy>
  <cp:revision>72</cp:revision>
  <dcterms:created xsi:type="dcterms:W3CDTF">2026-05-10T11:33:11Z</dcterms:created>
  <dcterms:modified xsi:type="dcterms:W3CDTF">2026-05-14T08:02:39Z</dcterms:modified>
</cp:coreProperties>
</file>