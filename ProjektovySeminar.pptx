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redný štýl 2 - zvýrazneni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Svetlý štýl 3 - zvýrazneni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471" autoAdjust="0"/>
  </p:normalViewPr>
  <p:slideViewPr>
    <p:cSldViewPr snapToGrid="0">
      <p:cViewPr varScale="1">
        <p:scale>
          <a:sx n="75" d="100"/>
          <a:sy n="75" d="100"/>
        </p:scale>
        <p:origin x="360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D0CC52-0F20-40CF-AF79-4F04F060B18E}" type="doc">
      <dgm:prSet loTypeId="urn:microsoft.com/office/officeart/2005/8/layout/list1" loCatId="list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B838A42A-CB62-4C09-A028-932663531448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9A6095C-C0F6-4A29-9E46-D8502AF44886}" type="parTrans" cxnId="{9FAB69C1-FF52-46B6-8038-154E77D254EE}">
      <dgm:prSet/>
      <dgm:spPr/>
      <dgm:t>
        <a:bodyPr/>
        <a:lstStyle/>
        <a:p>
          <a:endParaRPr lang="en-US"/>
        </a:p>
      </dgm:t>
    </dgm:pt>
    <dgm:pt modelId="{CE6A072C-1073-4CB1-BE0E-3DB223590B00}" type="sibTrans" cxnId="{9FAB69C1-FF52-46B6-8038-154E77D254EE}">
      <dgm:prSet/>
      <dgm:spPr/>
      <dgm:t>
        <a:bodyPr/>
        <a:lstStyle/>
        <a:p>
          <a:endParaRPr lang="en-US"/>
        </a:p>
      </dgm:t>
    </dgm:pt>
    <dgm:pt modelId="{7DE2F2FD-5641-4E38-9F32-4B63B42084C1}">
      <dgm:prSet/>
      <dgm:spPr/>
      <dgm:t>
        <a:bodyPr/>
        <a:lstStyle/>
        <a:p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BF8DC5-7D09-4283-A03D-BF6C4414473A}" type="parTrans" cxnId="{2A9C7DD2-5050-49E7-B379-90971A4D55D4}">
      <dgm:prSet/>
      <dgm:spPr/>
      <dgm:t>
        <a:bodyPr/>
        <a:lstStyle/>
        <a:p>
          <a:endParaRPr lang="en-US"/>
        </a:p>
      </dgm:t>
    </dgm:pt>
    <dgm:pt modelId="{3EFFB30E-F896-4A6A-8A34-8CA2D072C060}" type="sibTrans" cxnId="{2A9C7DD2-5050-49E7-B379-90971A4D55D4}">
      <dgm:prSet/>
      <dgm:spPr/>
      <dgm:t>
        <a:bodyPr/>
        <a:lstStyle/>
        <a:p>
          <a:endParaRPr lang="en-US"/>
        </a:p>
      </dgm:t>
    </dgm:pt>
    <dgm:pt modelId="{7FD148CB-F4BD-4E5B-A200-9C61A890BC39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Podpora viacerých jazykov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979CEAD-40CB-4618-8A60-657453963826}" type="parTrans" cxnId="{D3862FEF-DD1C-4459-8130-8D8A0F2899E6}">
      <dgm:prSet/>
      <dgm:spPr/>
      <dgm:t>
        <a:bodyPr/>
        <a:lstStyle/>
        <a:p>
          <a:endParaRPr lang="en-US"/>
        </a:p>
      </dgm:t>
    </dgm:pt>
    <dgm:pt modelId="{DBE2415D-A5F7-4102-BCF7-3C819C8696E1}" type="sibTrans" cxnId="{D3862FEF-DD1C-4459-8130-8D8A0F2899E6}">
      <dgm:prSet/>
      <dgm:spPr/>
      <dgm:t>
        <a:bodyPr/>
        <a:lstStyle/>
        <a:p>
          <a:endParaRPr lang="en-US"/>
        </a:p>
      </dgm:t>
    </dgm:pt>
    <dgm:pt modelId="{15700217-1A4B-43A7-98F4-5FAED1604FA0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4369C9B-277B-47D7-83E5-023240EB3A51}" type="parTrans" cxnId="{A971EE12-2D95-4B44-A02A-C26A457A9FAA}">
      <dgm:prSet/>
      <dgm:spPr/>
      <dgm:t>
        <a:bodyPr/>
        <a:lstStyle/>
        <a:p>
          <a:endParaRPr lang="en-US"/>
        </a:p>
      </dgm:t>
    </dgm:pt>
    <dgm:pt modelId="{5C784C19-AAFF-4081-AB00-37E89013DD90}" type="sibTrans" cxnId="{A971EE12-2D95-4B44-A02A-C26A457A9FAA}">
      <dgm:prSet/>
      <dgm:spPr/>
      <dgm:t>
        <a:bodyPr/>
        <a:lstStyle/>
        <a:p>
          <a:endParaRPr lang="en-US"/>
        </a:p>
      </dgm:t>
    </dgm:pt>
    <dgm:pt modelId="{D10F6378-38B6-4F16-8465-564EB911BE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4A682EF-D052-44E9-A1C1-3535D497066C}" type="parTrans" cxnId="{835B28A9-791F-4A8B-82DE-A55CF8935DE8}">
      <dgm:prSet/>
      <dgm:spPr/>
      <dgm:t>
        <a:bodyPr/>
        <a:lstStyle/>
        <a:p>
          <a:endParaRPr lang="en-US"/>
        </a:p>
      </dgm:t>
    </dgm:pt>
    <dgm:pt modelId="{3D368555-70CB-44A8-86EC-1FAAD6A18D90}" type="sibTrans" cxnId="{835B28A9-791F-4A8B-82DE-A55CF8935DE8}">
      <dgm:prSet/>
      <dgm:spPr/>
      <dgm:t>
        <a:bodyPr/>
        <a:lstStyle/>
        <a:p>
          <a:endParaRPr lang="en-US"/>
        </a:p>
      </dgm:t>
    </dgm:pt>
    <dgm:pt modelId="{9F5D876F-230D-440E-B857-85D97D7130B4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809E8F-C21D-4A29-B3B0-DF6A3F34F64E}" type="parTrans" cxnId="{4655E242-D332-4C98-827F-5F250155F859}">
      <dgm:prSet/>
      <dgm:spPr/>
      <dgm:t>
        <a:bodyPr/>
        <a:lstStyle/>
        <a:p>
          <a:endParaRPr lang="en-US"/>
        </a:p>
      </dgm:t>
    </dgm:pt>
    <dgm:pt modelId="{49F3BDB2-C2B1-42F8-97B4-976CC772FC32}" type="sibTrans" cxnId="{4655E242-D332-4C98-827F-5F250155F859}">
      <dgm:prSet/>
      <dgm:spPr/>
      <dgm:t>
        <a:bodyPr/>
        <a:lstStyle/>
        <a:p>
          <a:endParaRPr lang="en-US"/>
        </a:p>
      </dgm:t>
    </dgm:pt>
    <dgm:pt modelId="{B99F4CEC-7B83-4F4B-ACD0-9B1C372F5EF5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15197B-6767-4EB1-B571-5D6D35DA94F9}" type="parTrans" cxnId="{BCE52558-193D-45DE-B2C0-87AC73ACA554}">
      <dgm:prSet/>
      <dgm:spPr/>
      <dgm:t>
        <a:bodyPr/>
        <a:lstStyle/>
        <a:p>
          <a:endParaRPr lang="en-US"/>
        </a:p>
      </dgm:t>
    </dgm:pt>
    <dgm:pt modelId="{567937F9-37A8-4E25-A728-060A0307227F}" type="sibTrans" cxnId="{BCE52558-193D-45DE-B2C0-87AC73ACA554}">
      <dgm:prSet/>
      <dgm:spPr/>
      <dgm:t>
        <a:bodyPr/>
        <a:lstStyle/>
        <a:p>
          <a:endParaRPr lang="en-US"/>
        </a:p>
      </dgm:t>
    </dgm:pt>
    <dgm:pt modelId="{EC9BEFF2-2111-4471-8803-4324383DF2C2}">
      <dgm:prSet/>
      <dgm:spPr/>
      <dgm:t>
        <a:bodyPr/>
        <a:lstStyle/>
        <a:p>
          <a:r>
            <a:rPr lang="sk-SK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69BA70-8CCD-45C9-A508-90EE13E9E075}" type="parTrans" cxnId="{C51E9872-5989-4724-9966-5959B5F84234}">
      <dgm:prSet/>
      <dgm:spPr/>
      <dgm:t>
        <a:bodyPr/>
        <a:lstStyle/>
        <a:p>
          <a:endParaRPr lang="sk-SK"/>
        </a:p>
      </dgm:t>
    </dgm:pt>
    <dgm:pt modelId="{46E9C635-C380-420D-9BA9-3DAC071980B6}" type="sibTrans" cxnId="{C51E9872-5989-4724-9966-5959B5F84234}">
      <dgm:prSet/>
      <dgm:spPr/>
      <dgm:t>
        <a:bodyPr/>
        <a:lstStyle/>
        <a:p>
          <a:endParaRPr lang="sk-SK"/>
        </a:p>
      </dgm:t>
    </dgm:pt>
    <dgm:pt modelId="{FB40D41C-506F-4F81-9FDF-D54BBA0ED17D}" type="pres">
      <dgm:prSet presAssocID="{8ED0CC52-0F20-40CF-AF79-4F04F060B18E}" presName="linear" presStyleCnt="0">
        <dgm:presLayoutVars>
          <dgm:dir/>
          <dgm:animLvl val="lvl"/>
          <dgm:resizeHandles val="exact"/>
        </dgm:presLayoutVars>
      </dgm:prSet>
      <dgm:spPr/>
    </dgm:pt>
    <dgm:pt modelId="{459463CA-41FC-4EFE-AB6E-FEEF203C1FF5}" type="pres">
      <dgm:prSet presAssocID="{B838A42A-CB62-4C09-A028-932663531448}" presName="parentLin" presStyleCnt="0"/>
      <dgm:spPr/>
    </dgm:pt>
    <dgm:pt modelId="{E4AE64C8-7026-42BE-8CF0-6C9DD2CAF5CE}" type="pres">
      <dgm:prSet presAssocID="{B838A42A-CB62-4C09-A028-932663531448}" presName="parentLeftMargin" presStyleLbl="node1" presStyleIdx="0" presStyleCnt="2"/>
      <dgm:spPr/>
    </dgm:pt>
    <dgm:pt modelId="{5569F79B-8A7E-454D-9945-DA02DD4FA4E6}" type="pres">
      <dgm:prSet presAssocID="{B838A42A-CB62-4C09-A028-93266353144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30CABAD-AF11-46C1-861A-A26F59A0D052}" type="pres">
      <dgm:prSet presAssocID="{B838A42A-CB62-4C09-A028-932663531448}" presName="negativeSpace" presStyleCnt="0"/>
      <dgm:spPr/>
    </dgm:pt>
    <dgm:pt modelId="{8573B9D6-7C8A-466E-A52A-E39C7D467317}" type="pres">
      <dgm:prSet presAssocID="{B838A42A-CB62-4C09-A028-932663531448}" presName="childText" presStyleLbl="conFgAcc1" presStyleIdx="0" presStyleCnt="2">
        <dgm:presLayoutVars>
          <dgm:bulletEnabled val="1"/>
        </dgm:presLayoutVars>
      </dgm:prSet>
      <dgm:spPr/>
    </dgm:pt>
    <dgm:pt modelId="{3FB86631-4935-49C1-837D-33F4D71FDC15}" type="pres">
      <dgm:prSet presAssocID="{CE6A072C-1073-4CB1-BE0E-3DB223590B00}" presName="spaceBetweenRectangles" presStyleCnt="0"/>
      <dgm:spPr/>
    </dgm:pt>
    <dgm:pt modelId="{50B96115-086E-4A8B-AD22-8AC2C9BF0901}" type="pres">
      <dgm:prSet presAssocID="{9F5D876F-230D-440E-B857-85D97D7130B4}" presName="parentLin" presStyleCnt="0"/>
      <dgm:spPr/>
    </dgm:pt>
    <dgm:pt modelId="{D7BFFD3E-2DEF-40DE-B526-E25BC8E138A5}" type="pres">
      <dgm:prSet presAssocID="{9F5D876F-230D-440E-B857-85D97D7130B4}" presName="parentLeftMargin" presStyleLbl="node1" presStyleIdx="0" presStyleCnt="2"/>
      <dgm:spPr/>
    </dgm:pt>
    <dgm:pt modelId="{50E3318B-6C41-4B98-B2B0-64E18F5CAE3A}" type="pres">
      <dgm:prSet presAssocID="{9F5D876F-230D-440E-B857-85D97D7130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C1C5217-B6DD-45A1-A87E-EA3A9DDC6713}" type="pres">
      <dgm:prSet presAssocID="{9F5D876F-230D-440E-B857-85D97D7130B4}" presName="negativeSpace" presStyleCnt="0"/>
      <dgm:spPr/>
    </dgm:pt>
    <dgm:pt modelId="{E6A1D4FB-38B8-4ECD-AD84-424B8F8CF3EE}" type="pres">
      <dgm:prSet presAssocID="{9F5D876F-230D-440E-B857-85D97D7130B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971EE12-2D95-4B44-A02A-C26A457A9FAA}" srcId="{B838A42A-CB62-4C09-A028-932663531448}" destId="{15700217-1A4B-43A7-98F4-5FAED1604FA0}" srcOrd="2" destOrd="0" parTransId="{44369C9B-277B-47D7-83E5-023240EB3A51}" sibTransId="{5C784C19-AAFF-4081-AB00-37E89013DD90}"/>
    <dgm:cxn modelId="{63F3E32A-29EA-4C02-8DAA-5A8798306EC6}" type="presOf" srcId="{B838A42A-CB62-4C09-A028-932663531448}" destId="{5569F79B-8A7E-454D-9945-DA02DD4FA4E6}" srcOrd="1" destOrd="0" presId="urn:microsoft.com/office/officeart/2005/8/layout/list1"/>
    <dgm:cxn modelId="{1C263133-6A20-49FB-9A8C-21A03DB12585}" type="presOf" srcId="{B99F4CEC-7B83-4F4B-ACD0-9B1C372F5EF5}" destId="{E6A1D4FB-38B8-4ECD-AD84-424B8F8CF3EE}" srcOrd="0" destOrd="0" presId="urn:microsoft.com/office/officeart/2005/8/layout/list1"/>
    <dgm:cxn modelId="{DBDBFB3C-E9E4-49DB-A4B1-1597F0D03400}" type="presOf" srcId="{8ED0CC52-0F20-40CF-AF79-4F04F060B18E}" destId="{FB40D41C-506F-4F81-9FDF-D54BBA0ED17D}" srcOrd="0" destOrd="0" presId="urn:microsoft.com/office/officeart/2005/8/layout/list1"/>
    <dgm:cxn modelId="{DB0E5D60-830A-4415-AB21-928F477F4E1B}" type="presOf" srcId="{9F5D876F-230D-440E-B857-85D97D7130B4}" destId="{50E3318B-6C41-4B98-B2B0-64E18F5CAE3A}" srcOrd="1" destOrd="0" presId="urn:microsoft.com/office/officeart/2005/8/layout/list1"/>
    <dgm:cxn modelId="{4655E242-D332-4C98-827F-5F250155F859}" srcId="{8ED0CC52-0F20-40CF-AF79-4F04F060B18E}" destId="{9F5D876F-230D-440E-B857-85D97D7130B4}" srcOrd="1" destOrd="0" parTransId="{EA809E8F-C21D-4A29-B3B0-DF6A3F34F64E}" sibTransId="{49F3BDB2-C2B1-42F8-97B4-976CC772FC32}"/>
    <dgm:cxn modelId="{68836D66-8213-43D7-8B4C-C64DABA29F01}" type="presOf" srcId="{B838A42A-CB62-4C09-A028-932663531448}" destId="{E4AE64C8-7026-42BE-8CF0-6C9DD2CAF5CE}" srcOrd="0" destOrd="0" presId="urn:microsoft.com/office/officeart/2005/8/layout/list1"/>
    <dgm:cxn modelId="{CFA88D51-535B-49A9-9BF2-D1AA2880108D}" type="presOf" srcId="{15700217-1A4B-43A7-98F4-5FAED1604FA0}" destId="{8573B9D6-7C8A-466E-A52A-E39C7D467317}" srcOrd="0" destOrd="2" presId="urn:microsoft.com/office/officeart/2005/8/layout/list1"/>
    <dgm:cxn modelId="{C51E9872-5989-4724-9966-5959B5F84234}" srcId="{9F5D876F-230D-440E-B857-85D97D7130B4}" destId="{EC9BEFF2-2111-4471-8803-4324383DF2C2}" srcOrd="1" destOrd="0" parTransId="{1C69BA70-8CCD-45C9-A508-90EE13E9E075}" sibTransId="{46E9C635-C380-420D-9BA9-3DAC071980B6}"/>
    <dgm:cxn modelId="{BCE52558-193D-45DE-B2C0-87AC73ACA554}" srcId="{9F5D876F-230D-440E-B857-85D97D7130B4}" destId="{B99F4CEC-7B83-4F4B-ACD0-9B1C372F5EF5}" srcOrd="0" destOrd="0" parTransId="{7215197B-6767-4EB1-B571-5D6D35DA94F9}" sibTransId="{567937F9-37A8-4E25-A728-060A0307227F}"/>
    <dgm:cxn modelId="{9B87BAA2-8062-45B4-A76F-A383DEE008C5}" type="presOf" srcId="{7FD148CB-F4BD-4E5B-A200-9C61A890BC39}" destId="{8573B9D6-7C8A-466E-A52A-E39C7D467317}" srcOrd="0" destOrd="1" presId="urn:microsoft.com/office/officeart/2005/8/layout/list1"/>
    <dgm:cxn modelId="{835B28A9-791F-4A8B-82DE-A55CF8935DE8}" srcId="{B838A42A-CB62-4C09-A028-932663531448}" destId="{D10F6378-38B6-4F16-8465-564EB911BEC2}" srcOrd="3" destOrd="0" parTransId="{B4A682EF-D052-44E9-A1C1-3535D497066C}" sibTransId="{3D368555-70CB-44A8-86EC-1FAAD6A18D90}"/>
    <dgm:cxn modelId="{314C59B0-AC9E-4D63-9A12-0B5E65E59B4C}" type="presOf" srcId="{D10F6378-38B6-4F16-8465-564EB911BEC2}" destId="{8573B9D6-7C8A-466E-A52A-E39C7D467317}" srcOrd="0" destOrd="3" presId="urn:microsoft.com/office/officeart/2005/8/layout/list1"/>
    <dgm:cxn modelId="{9FAB69C1-FF52-46B6-8038-154E77D254EE}" srcId="{8ED0CC52-0F20-40CF-AF79-4F04F060B18E}" destId="{B838A42A-CB62-4C09-A028-932663531448}" srcOrd="0" destOrd="0" parTransId="{B9A6095C-C0F6-4A29-9E46-D8502AF44886}" sibTransId="{CE6A072C-1073-4CB1-BE0E-3DB223590B00}"/>
    <dgm:cxn modelId="{0AFA69C1-E771-4A0F-81F3-4664ED269560}" type="presOf" srcId="{7DE2F2FD-5641-4E38-9F32-4B63B42084C1}" destId="{8573B9D6-7C8A-466E-A52A-E39C7D467317}" srcOrd="0" destOrd="0" presId="urn:microsoft.com/office/officeart/2005/8/layout/list1"/>
    <dgm:cxn modelId="{2A9C7DD2-5050-49E7-B379-90971A4D55D4}" srcId="{B838A42A-CB62-4C09-A028-932663531448}" destId="{7DE2F2FD-5641-4E38-9F32-4B63B42084C1}" srcOrd="0" destOrd="0" parTransId="{92BF8DC5-7D09-4283-A03D-BF6C4414473A}" sibTransId="{3EFFB30E-F896-4A6A-8A34-8CA2D072C060}"/>
    <dgm:cxn modelId="{DA83CED3-A712-401D-9297-912496593AC0}" type="presOf" srcId="{9F5D876F-230D-440E-B857-85D97D7130B4}" destId="{D7BFFD3E-2DEF-40DE-B526-E25BC8E138A5}" srcOrd="0" destOrd="0" presId="urn:microsoft.com/office/officeart/2005/8/layout/list1"/>
    <dgm:cxn modelId="{58F1F6D6-0284-447D-8226-FBBA5653C483}" type="presOf" srcId="{EC9BEFF2-2111-4471-8803-4324383DF2C2}" destId="{E6A1D4FB-38B8-4ECD-AD84-424B8F8CF3EE}" srcOrd="0" destOrd="1" presId="urn:microsoft.com/office/officeart/2005/8/layout/list1"/>
    <dgm:cxn modelId="{D3862FEF-DD1C-4459-8130-8D8A0F2899E6}" srcId="{B838A42A-CB62-4C09-A028-932663531448}" destId="{7FD148CB-F4BD-4E5B-A200-9C61A890BC39}" srcOrd="1" destOrd="0" parTransId="{B979CEAD-40CB-4618-8A60-657453963826}" sibTransId="{DBE2415D-A5F7-4102-BCF7-3C819C8696E1}"/>
    <dgm:cxn modelId="{BD63345D-1C2D-46C9-BD64-BF412508B608}" type="presParOf" srcId="{FB40D41C-506F-4F81-9FDF-D54BBA0ED17D}" destId="{459463CA-41FC-4EFE-AB6E-FEEF203C1FF5}" srcOrd="0" destOrd="0" presId="urn:microsoft.com/office/officeart/2005/8/layout/list1"/>
    <dgm:cxn modelId="{95506700-1348-40CB-878B-574F52D3A5FC}" type="presParOf" srcId="{459463CA-41FC-4EFE-AB6E-FEEF203C1FF5}" destId="{E4AE64C8-7026-42BE-8CF0-6C9DD2CAF5CE}" srcOrd="0" destOrd="0" presId="urn:microsoft.com/office/officeart/2005/8/layout/list1"/>
    <dgm:cxn modelId="{A54A1218-CC48-4BC4-8AF9-D1BDB02CF5A1}" type="presParOf" srcId="{459463CA-41FC-4EFE-AB6E-FEEF203C1FF5}" destId="{5569F79B-8A7E-454D-9945-DA02DD4FA4E6}" srcOrd="1" destOrd="0" presId="urn:microsoft.com/office/officeart/2005/8/layout/list1"/>
    <dgm:cxn modelId="{B2C4F8E9-8F8B-4501-9D6F-0B0808B86A6C}" type="presParOf" srcId="{FB40D41C-506F-4F81-9FDF-D54BBA0ED17D}" destId="{C30CABAD-AF11-46C1-861A-A26F59A0D052}" srcOrd="1" destOrd="0" presId="urn:microsoft.com/office/officeart/2005/8/layout/list1"/>
    <dgm:cxn modelId="{AD5CE399-2EDC-472A-BF62-A9D98F4DF338}" type="presParOf" srcId="{FB40D41C-506F-4F81-9FDF-D54BBA0ED17D}" destId="{8573B9D6-7C8A-466E-A52A-E39C7D467317}" srcOrd="2" destOrd="0" presId="urn:microsoft.com/office/officeart/2005/8/layout/list1"/>
    <dgm:cxn modelId="{918BCEFA-CF13-448C-A82E-074DB326C08A}" type="presParOf" srcId="{FB40D41C-506F-4F81-9FDF-D54BBA0ED17D}" destId="{3FB86631-4935-49C1-837D-33F4D71FDC15}" srcOrd="3" destOrd="0" presId="urn:microsoft.com/office/officeart/2005/8/layout/list1"/>
    <dgm:cxn modelId="{1DFF48BC-9298-4580-A44B-161243761F9B}" type="presParOf" srcId="{FB40D41C-506F-4F81-9FDF-D54BBA0ED17D}" destId="{50B96115-086E-4A8B-AD22-8AC2C9BF0901}" srcOrd="4" destOrd="0" presId="urn:microsoft.com/office/officeart/2005/8/layout/list1"/>
    <dgm:cxn modelId="{DDF9D583-2395-4CA4-90C5-F04D209E282B}" type="presParOf" srcId="{50B96115-086E-4A8B-AD22-8AC2C9BF0901}" destId="{D7BFFD3E-2DEF-40DE-B526-E25BC8E138A5}" srcOrd="0" destOrd="0" presId="urn:microsoft.com/office/officeart/2005/8/layout/list1"/>
    <dgm:cxn modelId="{A5BA1E7C-3142-40AC-932F-36626B4FF674}" type="presParOf" srcId="{50B96115-086E-4A8B-AD22-8AC2C9BF0901}" destId="{50E3318B-6C41-4B98-B2B0-64E18F5CAE3A}" srcOrd="1" destOrd="0" presId="urn:microsoft.com/office/officeart/2005/8/layout/list1"/>
    <dgm:cxn modelId="{99F64103-5644-4F51-AB64-FFFC3D4B1A7E}" type="presParOf" srcId="{FB40D41C-506F-4F81-9FDF-D54BBA0ED17D}" destId="{6C1C5217-B6DD-45A1-A87E-EA3A9DDC6713}" srcOrd="5" destOrd="0" presId="urn:microsoft.com/office/officeart/2005/8/layout/list1"/>
    <dgm:cxn modelId="{182071EF-6ABA-45FF-A41C-5BB0C11A2FBE}" type="presParOf" srcId="{FB40D41C-506F-4F81-9FDF-D54BBA0ED17D}" destId="{E6A1D4FB-38B8-4ECD-AD84-424B8F8CF3EE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73B9D6-7C8A-466E-A52A-E39C7D467317}">
      <dsp:nvSpPr>
        <dsp:cNvPr id="0" name=""/>
        <dsp:cNvSpPr/>
      </dsp:nvSpPr>
      <dsp:spPr>
        <a:xfrm>
          <a:off x="0" y="447438"/>
          <a:ext cx="9858191" cy="194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UDPipe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tokenizácia a </a:t>
          </a:r>
          <a:r>
            <a:rPr lang="sk-SK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lemmatizácia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 textu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Podpora viacerých jazykov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Permutácie textu podľa viet</a:t>
          </a:r>
          <a:r>
            <a:rPr lang="en-US" sz="2200" kern="1200" dirty="0">
              <a:latin typeface="Arial" panose="020B0604020202020204" pitchFamily="34" charset="0"/>
              <a:cs typeface="Arial" panose="020B0604020202020204" pitchFamily="34" charset="0"/>
            </a:rPr>
            <a:t>/</a:t>
          </a:r>
          <a:r>
            <a:rPr lang="en-US" sz="2200" kern="1200" dirty="0" err="1">
              <a:latin typeface="Arial" panose="020B0604020202020204" pitchFamily="34" charset="0"/>
              <a:cs typeface="Arial" panose="020B0604020202020204" pitchFamily="34" charset="0"/>
            </a:rPr>
            <a:t>slov</a:t>
          </a: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Analýza AI generovaného textu, experimenty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447438"/>
        <a:ext cx="9858191" cy="1940400"/>
      </dsp:txXfrm>
    </dsp:sp>
    <dsp:sp modelId="{5569F79B-8A7E-454D-9945-DA02DD4FA4E6}">
      <dsp:nvSpPr>
        <dsp:cNvPr id="0" name=""/>
        <dsp:cNvSpPr/>
      </dsp:nvSpPr>
      <dsp:spPr>
        <a:xfrm>
          <a:off x="492909" y="122718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Aplikované: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154421"/>
        <a:ext cx="6837327" cy="586034"/>
      </dsp:txXfrm>
    </dsp:sp>
    <dsp:sp modelId="{E6A1D4FB-38B8-4ECD-AD84-424B8F8CF3EE}">
      <dsp:nvSpPr>
        <dsp:cNvPr id="0" name=""/>
        <dsp:cNvSpPr/>
      </dsp:nvSpPr>
      <dsp:spPr>
        <a:xfrm>
          <a:off x="0" y="2831359"/>
          <a:ext cx="9858191" cy="124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5105" tIns="458216" rIns="765105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Implementácia matematických modelov na porovnanie distribúcie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Grafické znázornenie jazykovej analýzy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831359"/>
        <a:ext cx="9858191" cy="1247400"/>
      </dsp:txXfrm>
    </dsp:sp>
    <dsp:sp modelId="{50E3318B-6C41-4B98-B2B0-64E18F5CAE3A}">
      <dsp:nvSpPr>
        <dsp:cNvPr id="0" name=""/>
        <dsp:cNvSpPr/>
      </dsp:nvSpPr>
      <dsp:spPr>
        <a:xfrm>
          <a:off x="492909" y="2506639"/>
          <a:ext cx="6900733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60831" tIns="0" rIns="26083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200" kern="1200" dirty="0">
              <a:latin typeface="Arial" panose="020B0604020202020204" pitchFamily="34" charset="0"/>
              <a:cs typeface="Arial" panose="020B0604020202020204" pitchFamily="34" charset="0"/>
            </a:rPr>
            <a:t>Budúce:</a:t>
          </a:r>
          <a:endParaRPr lang="en-US" sz="2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4612" y="2538342"/>
        <a:ext cx="6837327" cy="5860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5D392-0CAC-4457-8BCE-9AC73B589516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B520EB-4DD3-43FA-AF8C-5E5593FD7DA4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97110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873229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Udpipe</a:t>
            </a:r>
            <a:r>
              <a:rPr lang="sk-SK" dirty="0"/>
              <a:t> </a:t>
            </a:r>
            <a:r>
              <a:rPr lang="sk-SK" dirty="0" err="1"/>
              <a:t>christmas</a:t>
            </a:r>
            <a:r>
              <a:rPr lang="sk-SK" dirty="0"/>
              <a:t> </a:t>
            </a:r>
            <a:r>
              <a:rPr lang="sk-SK" dirty="0" err="1"/>
              <a:t>carol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no </a:t>
            </a:r>
            <a:r>
              <a:rPr lang="sk-SK" dirty="0" err="1"/>
              <a:t>punct</a:t>
            </a:r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39890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Udpipe</a:t>
            </a:r>
            <a:r>
              <a:rPr lang="sk-SK" dirty="0"/>
              <a:t> </a:t>
            </a:r>
            <a:r>
              <a:rPr lang="sk-SK" dirty="0" err="1"/>
              <a:t>christmas</a:t>
            </a:r>
            <a:r>
              <a:rPr lang="sk-SK" dirty="0"/>
              <a:t> </a:t>
            </a:r>
            <a:r>
              <a:rPr lang="sk-SK" dirty="0" err="1"/>
              <a:t>carol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</a:t>
            </a:r>
            <a:r>
              <a:rPr lang="sk-SK" dirty="0" err="1"/>
              <a:t>yes</a:t>
            </a:r>
            <a:r>
              <a:rPr lang="sk-SK" dirty="0"/>
              <a:t> </a:t>
            </a:r>
            <a:r>
              <a:rPr lang="sk-SK" dirty="0" err="1"/>
              <a:t>punct</a:t>
            </a:r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62276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picture</a:t>
            </a:r>
            <a:r>
              <a:rPr lang="sk-SK" dirty="0"/>
              <a:t> of </a:t>
            </a:r>
            <a:r>
              <a:rPr lang="sk-SK" dirty="0" err="1"/>
              <a:t>dorian</a:t>
            </a:r>
            <a:r>
              <a:rPr lang="sk-SK" dirty="0"/>
              <a:t> </a:t>
            </a:r>
            <a:r>
              <a:rPr lang="sk-SK" dirty="0" err="1"/>
              <a:t>grey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and </a:t>
            </a:r>
            <a:r>
              <a:rPr lang="sk-SK" dirty="0" err="1"/>
              <a:t>ai</a:t>
            </a:r>
            <a:r>
              <a:rPr lang="sk-SK" dirty="0"/>
              <a:t> </a:t>
            </a:r>
            <a:r>
              <a:rPr lang="sk-SK" dirty="0" err="1"/>
              <a:t>gen</a:t>
            </a:r>
            <a:r>
              <a:rPr lang="sk-SK" dirty="0"/>
              <a:t> no </a:t>
            </a:r>
            <a:r>
              <a:rPr lang="sk-SK" dirty="0" err="1"/>
              <a:t>punct</a:t>
            </a:r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702887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picture</a:t>
            </a:r>
            <a:r>
              <a:rPr lang="sk-SK" dirty="0"/>
              <a:t> of </a:t>
            </a:r>
            <a:r>
              <a:rPr lang="sk-SK" dirty="0" err="1"/>
              <a:t>dorian</a:t>
            </a:r>
            <a:r>
              <a:rPr lang="sk-SK" dirty="0"/>
              <a:t> </a:t>
            </a:r>
            <a:r>
              <a:rPr lang="sk-SK" dirty="0" err="1"/>
              <a:t>grey</a:t>
            </a:r>
            <a:r>
              <a:rPr lang="sk-SK" dirty="0"/>
              <a:t> </a:t>
            </a:r>
            <a:r>
              <a:rPr lang="sk-SK" dirty="0" err="1"/>
              <a:t>eng</a:t>
            </a:r>
            <a:r>
              <a:rPr lang="sk-SK" dirty="0"/>
              <a:t> and </a:t>
            </a:r>
            <a:r>
              <a:rPr lang="sk-SK" dirty="0" err="1"/>
              <a:t>ai</a:t>
            </a:r>
            <a:r>
              <a:rPr lang="sk-SK" dirty="0"/>
              <a:t> </a:t>
            </a:r>
            <a:r>
              <a:rPr lang="sk-SK" dirty="0" err="1"/>
              <a:t>gen</a:t>
            </a:r>
            <a:r>
              <a:rPr lang="sk-SK" dirty="0"/>
              <a:t> </a:t>
            </a:r>
            <a:r>
              <a:rPr lang="sk-SK" dirty="0" err="1"/>
              <a:t>yes</a:t>
            </a:r>
            <a:r>
              <a:rPr lang="sk-SK" dirty="0"/>
              <a:t> </a:t>
            </a:r>
            <a:r>
              <a:rPr lang="sk-SK" dirty="0" err="1"/>
              <a:t>punct</a:t>
            </a:r>
            <a:endParaRPr lang="sk-SK" dirty="0"/>
          </a:p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B520EB-4DD3-43FA-AF8C-5E5593FD7DA4}" type="slidenum">
              <a:rPr lang="sk-SK" smtClean="0"/>
              <a:t>12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87807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Úvodná snímka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901762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18973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10303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94651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28723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94177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8192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19451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39533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87154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42612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3140EA08-901F-4180-AF6E-69D292EACCF5}" type="datetimeFigureOut">
              <a:rPr lang="sk-SK" smtClean="0"/>
              <a:t>10. 5. 2026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1704E30E-4B29-4C47-A716-6C5DBA3E5047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7570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etra.uniba.sk/?fn=detailBiblioFormChildM12I2&amp;sid=FB57F9A55C85C1C4C89075265B&amp;seo=PETRA-detail-kapitola-/-pr%C3%ADspevok" TargetMode="External"/><Relationship Id="rId2" Type="http://schemas.openxmlformats.org/officeDocument/2006/relationships/hyperlink" Target="https://arxiv.org/abs/1604.00834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11606991_Language_as_an_Evolving_Word_Web" TargetMode="External"/><Relationship Id="rId2" Type="http://schemas.openxmlformats.org/officeDocument/2006/relationships/hyperlink" Target="https://networksciencebook.co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9CB7BA-06C4-73BC-CA1C-F7E3D4D7D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071" y="758952"/>
            <a:ext cx="10874829" cy="2980291"/>
          </a:xfrm>
        </p:spPr>
        <p:txBody>
          <a:bodyPr>
            <a:normAutofit fontScale="90000"/>
          </a:bodyPr>
          <a:lstStyle/>
          <a:p>
            <a:pPr algn="ctr"/>
            <a:b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sk-SK" sz="6000" dirty="0">
                <a:latin typeface="Arial" panose="020B0604020202020204" pitchFamily="34" charset="0"/>
                <a:cs typeface="Arial" panose="020B0604020202020204" pitchFamily="34" charset="0"/>
              </a:rPr>
              <a:t> Model distribúcie interpunkčných znamienok v rôznych textoch 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C706C7-DCF5-ACC7-51EE-127297D334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7562" y="4501242"/>
            <a:ext cx="9056876" cy="1691640"/>
          </a:xfrm>
        </p:spPr>
        <p:txBody>
          <a:bodyPr>
            <a:normAutofit/>
          </a:bodyPr>
          <a:lstStyle/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Študent: Zdenko Németh</a:t>
            </a:r>
          </a:p>
          <a:p>
            <a:pPr algn="ctr"/>
            <a:r>
              <a:rPr lang="sk-SK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Vedúci práce: Doc. RNDr. Mária Markošová, PhD </a:t>
            </a:r>
          </a:p>
        </p:txBody>
      </p:sp>
    </p:spTree>
    <p:extLst>
      <p:ext uri="{BB962C8B-B14F-4D97-AF65-F5344CB8AC3E}">
        <p14:creationId xmlns:p14="http://schemas.microsoft.com/office/powerpoint/2010/main" val="2916882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CDB0A2E-0AC2-9D27-E6EC-790670FA2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131717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Anotácia 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226E0D9-0596-1C0E-E2C5-00E58C472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680" y="1457279"/>
            <a:ext cx="8595360" cy="4351337"/>
          </a:xfrm>
        </p:spPr>
        <p:txBody>
          <a:bodyPr>
            <a:normAutofit/>
          </a:bodyPr>
          <a:lstStyle/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Študent naprogramuje, alebo použije už naprogramovanú aplikáciu na hľadanie distribúcie interpunkčných znamienok v textoch v rôznych jazykoch. Ak študent použije hotovú aplikáciu, musí k nej doprogramovať všetko potrebné na analýzu distribúcie a na tvorbu jej modelu. Študent zanalyzuje distribúcie z textov toho istého autora v rôznych časových obdobiach aby zistil, ako sa táto vlastnosť textu mení a nakoľko ostáva stabilná. Navrhne matematický model tejto distribúcie, poprípade nájde parametre známeho matematického modelu, ktoré budú čo najlepšie vystihovať nameranú distribúciu. Porovná texty vygenerované AI v štýle nejakého spisovateľa s jeho originálnymi textami.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5" name="Nadpis 1">
            <a:extLst>
              <a:ext uri="{FF2B5EF4-FFF2-40B4-BE49-F238E27FC236}">
                <a16:creationId xmlns:a16="http://schemas.microsoft.com/office/drawing/2014/main" id="{05CDCF28-2A44-B2F4-4B9F-E25CB3D3F03F}"/>
              </a:ext>
            </a:extLst>
          </p:cNvPr>
          <p:cNvSpPr txBox="1">
            <a:spLocks/>
          </p:cNvSpPr>
          <p:nvPr/>
        </p:nvSpPr>
        <p:spPr>
          <a:xfrm>
            <a:off x="1249680" y="3332117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Cieľ </a:t>
            </a:r>
          </a:p>
        </p:txBody>
      </p:sp>
      <p:sp>
        <p:nvSpPr>
          <p:cNvPr id="6" name="Zástupný objekt pre obsah 2">
            <a:extLst>
              <a:ext uri="{FF2B5EF4-FFF2-40B4-BE49-F238E27FC236}">
                <a16:creationId xmlns:a16="http://schemas.microsoft.com/office/drawing/2014/main" id="{E15BC006-AE90-D31B-9BA2-986A835EB706}"/>
              </a:ext>
            </a:extLst>
          </p:cNvPr>
          <p:cNvSpPr txBox="1">
            <a:spLocks/>
          </p:cNvSpPr>
          <p:nvPr/>
        </p:nvSpPr>
        <p:spPr>
          <a:xfrm>
            <a:off x="1249680" y="4682331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Naprogramovať aplikáciu, alebo doprogramovať potrebné nástroje do aplikácie na analýzu distribúcií interpunkčných znamienok v textoch a vytvoriť matematický model opisujúci získané výsledky.</a:t>
            </a:r>
          </a:p>
        </p:txBody>
      </p:sp>
    </p:spTree>
    <p:extLst>
      <p:ext uri="{BB962C8B-B14F-4D97-AF65-F5344CB8AC3E}">
        <p14:creationId xmlns:p14="http://schemas.microsoft.com/office/powerpoint/2010/main" val="1054636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19C9690-F1F6-589E-440E-205F7EC63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429" y="365760"/>
            <a:ext cx="10519083" cy="1325562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Existujúca aplikácia z bakalárskej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9D4D235-790D-5820-8B5D-2A3F9BF58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Aplikácia bola vytvorená v rámci bakalárskej práce.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Umožňuje tvorbu pozičných slovných sietí z textu.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Implementované: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tokenizácia textu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jazyka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možnosť výberu interpunkcie pre analýzu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tvorba pozičnej slovnej siete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výpočet základnej grafovej a jazykovej analýzy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distribúcia stupňov vrcholov</a:t>
            </a:r>
          </a:p>
          <a:p>
            <a:pPr lvl="1"/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vývoj slovnej siete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Podporovala 2 jazyky: Angličtinu a Nemčinu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545475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89AE6DA-A080-475C-BE02-EF343FBA6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33EF95-E91B-40C4-A692-E91065291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53CAC5D-D424-4EE2-A0C2-72ED7A88AA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54DAE0-B2AD-D6A7-CEE3-04A128543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720348"/>
            <a:ext cx="5371395" cy="5417304"/>
          </a:xfrm>
          <a:prstGeom prst="rect">
            <a:avLst/>
          </a:prstGeom>
        </p:spPr>
      </p:pic>
      <p:pic>
        <p:nvPicPr>
          <p:cNvPr id="6" name="Obrázok 5">
            <a:extLst>
              <a:ext uri="{FF2B5EF4-FFF2-40B4-BE49-F238E27FC236}">
                <a16:creationId xmlns:a16="http://schemas.microsoft.com/office/drawing/2014/main" id="{270E3E2D-979E-7A77-AED0-450C37984A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729" y="1318188"/>
            <a:ext cx="5371395" cy="421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9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E99ED6D-365F-4CAE-942F-ECA78F74B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2F24F1-C1EF-471F-A19B-A340CE541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6C425C-3C64-47BA-B583-94D39B9B7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6568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4B6A9D3E-8529-4981-AC9B-AB3D2C4090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1956" y="643467"/>
            <a:ext cx="7428088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89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0B63C9A-F7AB-BF1D-BB93-DFD7EA687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Pozičné slovné siete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F790744-685E-BD75-7739-C7473322E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/>
              <a:t>Uzly reprezentujú slová</a:t>
            </a:r>
          </a:p>
          <a:p>
            <a:r>
              <a:rPr lang="sk-SK" dirty="0"/>
              <a:t>Hrany vznikajú medzi susednými slovami v texte</a:t>
            </a:r>
          </a:p>
          <a:p>
            <a:r>
              <a:rPr lang="sk-SK" dirty="0"/>
              <a:t>Sieť zachytáva lokálne vzťahy medzi slovami</a:t>
            </a:r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95F4AD38-7718-8552-A934-9AB4819971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2" y="5094407"/>
            <a:ext cx="5763429" cy="562053"/>
          </a:xfrm>
          <a:prstGeom prst="rect">
            <a:avLst/>
          </a:prstGeom>
        </p:spPr>
      </p:pic>
      <p:pic>
        <p:nvPicPr>
          <p:cNvPr id="7" name="Obrázok 6">
            <a:extLst>
              <a:ext uri="{FF2B5EF4-FFF2-40B4-BE49-F238E27FC236}">
                <a16:creationId xmlns:a16="http://schemas.microsoft.com/office/drawing/2014/main" id="{BBDF81CE-AF51-A015-63B0-100EE82527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258" y="3863845"/>
            <a:ext cx="3312037" cy="706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818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57A7AA9-D7AC-BB3F-C237-80524F5AD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Rozšírenia aplikácie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19" name="Zástupný objekt pre obsah 2">
            <a:extLst>
              <a:ext uri="{FF2B5EF4-FFF2-40B4-BE49-F238E27FC236}">
                <a16:creationId xmlns:a16="http://schemas.microsoft.com/office/drawing/2014/main" id="{7406B6F3-1BBE-0814-A866-617D14BB67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368794"/>
              </p:ext>
            </p:extLst>
          </p:nvPr>
        </p:nvGraphicFramePr>
        <p:xfrm>
          <a:off x="1262063" y="2013055"/>
          <a:ext cx="9858191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03663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8C4EA75-0D5F-EAF6-6E4E-0F8A87E5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Rozšírenie aplikácie pomocou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UDPipe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38D4E8-6C9A-8417-0653-9DFE536DE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pôvodná aplikácia používala </a:t>
            </a: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</a:rPr>
              <a:t>regex</a:t>
            </a: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 tokenizáciu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problém: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rôzne tvary slov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skloňovanie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časovanie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rozdielne jazyky znamenalo komplexná implementácia</a:t>
            </a:r>
          </a:p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výhody: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presnejšia tokenizácia textu</a:t>
            </a:r>
          </a:p>
          <a:p>
            <a:pPr lvl="1"/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konzistentnejšie vytváranie pozičných slovných sietí</a:t>
            </a:r>
          </a:p>
          <a:p>
            <a:pPr lvl="1"/>
            <a:r>
              <a:rPr lang="sk-SK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lemmatizácia</a:t>
            </a:r>
            <a:r>
              <a:rPr lang="sk-SK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slov do základného tvaru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7" name="Obrázok 6">
            <a:extLst>
              <a:ext uri="{FF2B5EF4-FFF2-40B4-BE49-F238E27FC236}">
                <a16:creationId xmlns:a16="http://schemas.microsoft.com/office/drawing/2014/main" id="{5C3D4465-3ACF-7883-7B62-38874F82A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94" y="5445186"/>
            <a:ext cx="11084506" cy="73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655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C415DD9-6519-CFF2-BE3D-91D66C88A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0A3A922A-B8F0-3FBF-5EA0-821A8637E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6292045"/>
              </p:ext>
            </p:extLst>
          </p:nvPr>
        </p:nvGraphicFramePr>
        <p:xfrm>
          <a:off x="4801440" y="804672"/>
          <a:ext cx="5704887" cy="5262069"/>
        </p:xfrm>
        <a:graphic>
          <a:graphicData uri="http://schemas.openxmlformats.org/drawingml/2006/table">
            <a:tbl>
              <a:tblPr/>
              <a:tblGrid>
                <a:gridCol w="2067292">
                  <a:extLst>
                    <a:ext uri="{9D8B030D-6E8A-4147-A177-3AD203B41FA5}">
                      <a16:colId xmlns:a16="http://schemas.microsoft.com/office/drawing/2014/main" val="1522675971"/>
                    </a:ext>
                  </a:extLst>
                </a:gridCol>
                <a:gridCol w="948301">
                  <a:extLst>
                    <a:ext uri="{9D8B030D-6E8A-4147-A177-3AD203B41FA5}">
                      <a16:colId xmlns:a16="http://schemas.microsoft.com/office/drawing/2014/main" val="1411456153"/>
                    </a:ext>
                  </a:extLst>
                </a:gridCol>
                <a:gridCol w="1490312">
                  <a:extLst>
                    <a:ext uri="{9D8B030D-6E8A-4147-A177-3AD203B41FA5}">
                      <a16:colId xmlns:a16="http://schemas.microsoft.com/office/drawing/2014/main" val="3791115676"/>
                    </a:ext>
                  </a:extLst>
                </a:gridCol>
                <a:gridCol w="1198982">
                  <a:extLst>
                    <a:ext uri="{9D8B030D-6E8A-4147-A177-3AD203B41FA5}">
                      <a16:colId xmlns:a16="http://schemas.microsoft.com/office/drawing/2014/main" val="3788277443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No Shuffle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Shuffle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87857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36429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13077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13103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80516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848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802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40582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8.09721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8.11331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9.12446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94544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0.00251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0.00283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2362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0.40852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0.40772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0.39859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5541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Avg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shortest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path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length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2.82903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2.82374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2.88044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67146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10591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3230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56550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6.18762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93384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1228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40407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16.73137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16.73758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17.58795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45418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13857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13865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16175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1965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155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21111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1.55676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1.55586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1.33366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52091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20016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20022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21288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136655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22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693908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1.07769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1.07736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1.01329</a:t>
                      </a:r>
                    </a:p>
                  </a:txBody>
                  <a:tcPr marL="62943" marR="62943" marT="31472" marB="3147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2509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004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558C3AB-CE96-2BAF-599E-2834BC11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Vplyv permutácie textu na pozičné slovné siete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6A0A821D-79CF-B381-D213-ED281E6963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4627235"/>
              </p:ext>
            </p:extLst>
          </p:nvPr>
        </p:nvGraphicFramePr>
        <p:xfrm>
          <a:off x="4705650" y="804672"/>
          <a:ext cx="5896468" cy="5262060"/>
        </p:xfrm>
        <a:graphic>
          <a:graphicData uri="http://schemas.openxmlformats.org/drawingml/2006/table">
            <a:tbl>
              <a:tblPr firstRow="1" bandRow="1"/>
              <a:tblGrid>
                <a:gridCol w="2283857">
                  <a:extLst>
                    <a:ext uri="{9D8B030D-6E8A-4147-A177-3AD203B41FA5}">
                      <a16:colId xmlns:a16="http://schemas.microsoft.com/office/drawing/2014/main" val="2203187224"/>
                    </a:ext>
                  </a:extLst>
                </a:gridCol>
                <a:gridCol w="1002327">
                  <a:extLst>
                    <a:ext uri="{9D8B030D-6E8A-4147-A177-3AD203B41FA5}">
                      <a16:colId xmlns:a16="http://schemas.microsoft.com/office/drawing/2014/main" val="4280321537"/>
                    </a:ext>
                  </a:extLst>
                </a:gridCol>
                <a:gridCol w="1430144">
                  <a:extLst>
                    <a:ext uri="{9D8B030D-6E8A-4147-A177-3AD203B41FA5}">
                      <a16:colId xmlns:a16="http://schemas.microsoft.com/office/drawing/2014/main" val="1624146885"/>
                    </a:ext>
                  </a:extLst>
                </a:gridCol>
                <a:gridCol w="1180140">
                  <a:extLst>
                    <a:ext uri="{9D8B030D-6E8A-4147-A177-3AD203B41FA5}">
                      <a16:colId xmlns:a16="http://schemas.microsoft.com/office/drawing/2014/main" val="3982137100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Shuffle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Shuffle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68634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6175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13259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15502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80401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95011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8.16646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8.17448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9.55734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17661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 density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0.00252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0.00295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891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0.49469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0.49376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0.48466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56032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2.71749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2.71623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2.77995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47167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5112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punctuation</a:t>
                      </a: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marks</a:t>
                      </a:r>
                      <a:endParaRPr lang="sk-SK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4818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0697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3244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68159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6.16523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2531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1288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93463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16.73137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16.73758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17.58795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82882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14071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17291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10806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62419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1.87456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1.87549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1.52623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07874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22381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22424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25428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50212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5788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1.17908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1.17682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1.03779</a:t>
                      </a:r>
                    </a:p>
                  </a:txBody>
                  <a:tcPr marL="42656" marR="42656" marT="21328" marB="2132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472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198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0C06AC0E-E21B-2E53-C2AB-319A54D2E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5" name="Zástupný objekt pre obsah 4">
            <a:extLst>
              <a:ext uri="{FF2B5EF4-FFF2-40B4-BE49-F238E27FC236}">
                <a16:creationId xmlns:a16="http://schemas.microsoft.com/office/drawing/2014/main" id="{F549734C-CD13-4219-B30F-A0CE01BC37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77593915"/>
              </p:ext>
            </p:extLst>
          </p:nvPr>
        </p:nvGraphicFramePr>
        <p:xfrm>
          <a:off x="4882935" y="804672"/>
          <a:ext cx="5541897" cy="5262069"/>
        </p:xfrm>
        <a:graphic>
          <a:graphicData uri="http://schemas.openxmlformats.org/drawingml/2006/table">
            <a:tbl>
              <a:tblPr firstRow="1" bandRow="1"/>
              <a:tblGrid>
                <a:gridCol w="2006902">
                  <a:extLst>
                    <a:ext uri="{9D8B030D-6E8A-4147-A177-3AD203B41FA5}">
                      <a16:colId xmlns:a16="http://schemas.microsoft.com/office/drawing/2014/main" val="817032544"/>
                    </a:ext>
                  </a:extLst>
                </a:gridCol>
                <a:gridCol w="1817337">
                  <a:extLst>
                    <a:ext uri="{9D8B030D-6E8A-4147-A177-3AD203B41FA5}">
                      <a16:colId xmlns:a16="http://schemas.microsoft.com/office/drawing/2014/main" val="2985090088"/>
                    </a:ext>
                  </a:extLst>
                </a:gridCol>
                <a:gridCol w="1717658">
                  <a:extLst>
                    <a:ext uri="{9D8B030D-6E8A-4147-A177-3AD203B41FA5}">
                      <a16:colId xmlns:a16="http://schemas.microsoft.com/office/drawing/2014/main" val="3849762870"/>
                    </a:ext>
                  </a:extLst>
                </a:gridCol>
              </a:tblGrid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AI Generated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Original Text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632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12671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10002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11198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04108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782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658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138500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8.06288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8.96557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35531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Network</a:t>
                      </a: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k-SK" sz="1200" b="0" i="0" u="none" strike="noStrike" dirty="0" err="1">
                          <a:effectLst/>
                          <a:latin typeface="Arial" panose="020B0604020202020204" pitchFamily="34" charset="0"/>
                        </a:rPr>
                        <a:t>density</a:t>
                      </a:r>
                      <a:endParaRPr lang="sk-SK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0.00325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0.00359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40061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Clustering coefficient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0.30653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0.40550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483302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2.86379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2.79347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062523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Diameter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3529471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2481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2498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24217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6.16969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6.28423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03064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1277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1622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82436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13.37745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12.39211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816910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10369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11932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1324309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249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1431834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1.64760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1.68530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9312857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14724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18147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800865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54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45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152353"/>
                  </a:ext>
                </a:extLst>
              </a:tr>
              <a:tr h="2769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>
                          <a:effectLst/>
                          <a:latin typeface="Arial" panose="020B0604020202020204" pitchFamily="34" charset="0"/>
                        </a:rPr>
                        <a:t>1.16021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sk-SK" sz="1200" b="0" i="0" u="none" strike="noStrike" dirty="0">
                          <a:effectLst/>
                          <a:latin typeface="Arial" panose="020B0604020202020204" pitchFamily="34" charset="0"/>
                        </a:rPr>
                        <a:t>1.10806</a:t>
                      </a:r>
                    </a:p>
                  </a:txBody>
                  <a:tcPr marL="60575" marR="60575" marT="30288" marB="30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26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8496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BE537F0-F3E7-23FD-555E-6167FF9A2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Porovnanie reálneho a AI generovaného textu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graphicFrame>
        <p:nvGraphicFramePr>
          <p:cNvPr id="4" name="Zástupný objekt pre obsah 3">
            <a:extLst>
              <a:ext uri="{FF2B5EF4-FFF2-40B4-BE49-F238E27FC236}">
                <a16:creationId xmlns:a16="http://schemas.microsoft.com/office/drawing/2014/main" id="{E31AF16E-F7E9-7AAC-FF7C-74F6CB268A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189219"/>
              </p:ext>
            </p:extLst>
          </p:nvPr>
        </p:nvGraphicFramePr>
        <p:xfrm>
          <a:off x="4754109" y="804672"/>
          <a:ext cx="5799548" cy="5262060"/>
        </p:xfrm>
        <a:graphic>
          <a:graphicData uri="http://schemas.openxmlformats.org/drawingml/2006/table">
            <a:tbl>
              <a:tblPr firstRow="1" bandRow="1"/>
              <a:tblGrid>
                <a:gridCol w="2243707">
                  <a:extLst>
                    <a:ext uri="{9D8B030D-6E8A-4147-A177-3AD203B41FA5}">
                      <a16:colId xmlns:a16="http://schemas.microsoft.com/office/drawing/2014/main" val="2619766976"/>
                    </a:ext>
                  </a:extLst>
                </a:gridCol>
                <a:gridCol w="1782175">
                  <a:extLst>
                    <a:ext uri="{9D8B030D-6E8A-4147-A177-3AD203B41FA5}">
                      <a16:colId xmlns:a16="http://schemas.microsoft.com/office/drawing/2014/main" val="4221140420"/>
                    </a:ext>
                  </a:extLst>
                </a:gridCol>
                <a:gridCol w="1773666">
                  <a:extLst>
                    <a:ext uri="{9D8B030D-6E8A-4147-A177-3AD203B41FA5}">
                      <a16:colId xmlns:a16="http://schemas.microsoft.com/office/drawing/2014/main" val="638379924"/>
                    </a:ext>
                  </a:extLst>
                </a:gridCol>
              </a:tblGrid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 Generated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Original Text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1837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nodes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96506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edges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10019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11135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85043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123732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degree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8.04093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8.87605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42281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density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0.00323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0.00354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676979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sk-SK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coefficient</a:t>
                      </a:r>
                      <a:endParaRPr lang="sk-SK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0.34884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0.46907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456883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Avg shortest path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2.76212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2.69403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79368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Diameter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537185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punctuation marks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2990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4342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276254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words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2492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2509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23039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word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6.14767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6.26186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757371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sentences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1622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855358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sentence length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13.37745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12.39211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35015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bigrams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10356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11802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413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120407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bigram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1.93839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2.07177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3814966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trigrams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15986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543242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72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184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6843780"/>
                  </a:ext>
                </a:extLst>
              </a:tr>
              <a:tr h="2631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trigram frequency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1.25566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sk-SK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1.24213</a:t>
                      </a:r>
                    </a:p>
                  </a:txBody>
                  <a:tcPr marL="54399" marR="54399" marT="27200" marB="27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7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443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66EA7AC-0798-CE0B-26CB-0E2D8B4B0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B14B638-F9C9-F4AD-2A7B-2EA54BB74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In narrative texts punctuation marks obey the same statistics as words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Dynamika sietí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26149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291BE5-BD55-9785-B89A-DE65C4503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0431E-0B04-44A1-9C51-531E28D18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D5F905E-419F-8F52-9AB8-C4F4816D1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>
            <a:normAutofit/>
          </a:bodyPr>
          <a:lstStyle/>
          <a:p>
            <a:r>
              <a:rPr lang="sk-SK" dirty="0">
                <a:latin typeface="Arial" panose="020B0604020202020204" pitchFamily="34" charset="0"/>
                <a:cs typeface="Arial" panose="020B0604020202020204" pitchFamily="34" charset="0"/>
              </a:rPr>
              <a:t>Vedecké články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9EE7551-353A-BFB0-891C-3FC3EADB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95360" cy="4351337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k-SK" dirty="0" err="1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Networksciencebook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Language as an Evolving Word Web</a:t>
            </a: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sk-SK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424749-EEE0-49C9-9ABF-97B171A3E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7760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3281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6F05DDE-5F2C-44F5-BACC-DED4737B1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6BC6A0D-8979-47FF-B606-70528EF8E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051CE5C-CF94-0CCC-3B7A-F3048DED8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2594" y="758952"/>
            <a:ext cx="9056876" cy="4041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85000"/>
              </a:lnSpc>
            </a:pPr>
            <a:r>
              <a:rPr lang="en-US" sz="7200"/>
              <a:t>Ďakujem za pozornosť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92CCBF-1641-4D35-9B74-6E4981730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61335986"/>
      </p:ext>
    </p:extLst>
  </p:cSld>
  <p:clrMapOvr>
    <a:masterClrMapping/>
  </p:clrMapOvr>
</p:sld>
</file>

<file path=ppt/theme/theme1.xml><?xml version="1.0" encoding="utf-8"?>
<a:theme xmlns:a="http://schemas.openxmlformats.org/drawingml/2006/main" name="Pohľad">
  <a:themeElements>
    <a:clrScheme name="Pohľad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Pohľad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Pohľad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TM03457515[[fn=Pohľad]]</Template>
  <TotalTime>461</TotalTime>
  <Words>801</Words>
  <Application>Microsoft Office PowerPoint</Application>
  <PresentationFormat>Širokouhlá</PresentationFormat>
  <Paragraphs>335</Paragraphs>
  <Slides>15</Slides>
  <Notes>5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15</vt:i4>
      </vt:variant>
    </vt:vector>
  </HeadingPairs>
  <TitlesOfParts>
    <vt:vector size="20" baseType="lpstr">
      <vt:lpstr>Aptos</vt:lpstr>
      <vt:lpstr>Arial</vt:lpstr>
      <vt:lpstr>Century Schoolbook</vt:lpstr>
      <vt:lpstr>Wingdings 2</vt:lpstr>
      <vt:lpstr>Pohľad</vt:lpstr>
      <vt:lpstr>  Model distribúcie interpunkčných znamienok v rôznych textoch </vt:lpstr>
      <vt:lpstr>Anotácia </vt:lpstr>
      <vt:lpstr>Existujúca aplikácia z bakalárskej práce</vt:lpstr>
      <vt:lpstr>Prezentácia programu PowerPoint</vt:lpstr>
      <vt:lpstr>Prezentácia programu PowerPoint</vt:lpstr>
      <vt:lpstr>Pozičné slovné siete</vt:lpstr>
      <vt:lpstr>Rozšírenia aplikácie</vt:lpstr>
      <vt:lpstr>Rozšírenie aplikácie pomocou UDPipe</vt:lpstr>
      <vt:lpstr>Vplyv permutácie textu na pozičné slovné siete</vt:lpstr>
      <vt:lpstr>Vplyv permutácie textu na pozičné slovné siete</vt:lpstr>
      <vt:lpstr>Porovnanie reálneho a AI generovaného textu</vt:lpstr>
      <vt:lpstr>Porovnanie reálneho a AI generovaného textu</vt:lpstr>
      <vt:lpstr>Vedecké články</vt:lpstr>
      <vt:lpstr>Vedecké články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Zdenko Németh</dc:creator>
  <cp:lastModifiedBy>Zdenko Németh</cp:lastModifiedBy>
  <cp:revision>15</cp:revision>
  <dcterms:created xsi:type="dcterms:W3CDTF">2026-05-10T11:33:11Z</dcterms:created>
  <dcterms:modified xsi:type="dcterms:W3CDTF">2026-05-10T19:15:09Z</dcterms:modified>
</cp:coreProperties>
</file>