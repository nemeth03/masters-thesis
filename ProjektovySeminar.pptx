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74" r:id="rId10"/>
    <p:sldId id="275" r:id="rId11"/>
    <p:sldId id="273" r:id="rId12"/>
    <p:sldId id="264" r:id="rId13"/>
    <p:sldId id="265" r:id="rId14"/>
    <p:sldId id="266" r:id="rId15"/>
    <p:sldId id="267" r:id="rId16"/>
    <p:sldId id="271" r:id="rId17"/>
    <p:sldId id="272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redný štýl 2 - zvýrazneni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Svetlý štýl 3 - zvýrazneni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redný štý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471" autoAdjust="0"/>
  </p:normalViewPr>
  <p:slideViewPr>
    <p:cSldViewPr snapToGrid="0">
      <p:cViewPr varScale="1">
        <p:scale>
          <a:sx n="75" d="100"/>
          <a:sy n="75" d="100"/>
        </p:scale>
        <p:origin x="122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D0CC52-0F20-40CF-AF79-4F04F060B18E}" type="doc">
      <dgm:prSet loTypeId="urn:microsoft.com/office/officeart/2005/8/layout/list1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B838A42A-CB62-4C09-A028-932663531448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A6095C-C0F6-4A29-9E46-D8502AF44886}" type="parTrans" cxnId="{9FAB69C1-FF52-46B6-8038-154E77D254EE}">
      <dgm:prSet/>
      <dgm:spPr/>
      <dgm:t>
        <a:bodyPr/>
        <a:lstStyle/>
        <a:p>
          <a:endParaRPr lang="en-US"/>
        </a:p>
      </dgm:t>
    </dgm:pt>
    <dgm:pt modelId="{CE6A072C-1073-4CB1-BE0E-3DB223590B00}" type="sibTrans" cxnId="{9FAB69C1-FF52-46B6-8038-154E77D254EE}">
      <dgm:prSet/>
      <dgm:spPr/>
      <dgm:t>
        <a:bodyPr/>
        <a:lstStyle/>
        <a:p>
          <a:endParaRPr lang="en-US"/>
        </a:p>
      </dgm:t>
    </dgm:pt>
    <dgm:pt modelId="{7DE2F2FD-5641-4E38-9F32-4B63B42084C1}">
      <dgm:prSet/>
      <dgm:spPr/>
      <dgm:t>
        <a:bodyPr/>
        <a:lstStyle/>
        <a:p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BF8DC5-7D09-4283-A03D-BF6C4414473A}" type="parTrans" cxnId="{2A9C7DD2-5050-49E7-B379-90971A4D55D4}">
      <dgm:prSet/>
      <dgm:spPr/>
      <dgm:t>
        <a:bodyPr/>
        <a:lstStyle/>
        <a:p>
          <a:endParaRPr lang="en-US"/>
        </a:p>
      </dgm:t>
    </dgm:pt>
    <dgm:pt modelId="{3EFFB30E-F896-4A6A-8A34-8CA2D072C060}" type="sibTrans" cxnId="{2A9C7DD2-5050-49E7-B379-90971A4D55D4}">
      <dgm:prSet/>
      <dgm:spPr/>
      <dgm:t>
        <a:bodyPr/>
        <a:lstStyle/>
        <a:p>
          <a:endParaRPr lang="en-US"/>
        </a:p>
      </dgm:t>
    </dgm:pt>
    <dgm:pt modelId="{15700217-1A4B-43A7-98F4-5FAED1604FA0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4369C9B-277B-47D7-83E5-023240EB3A51}" type="parTrans" cxnId="{A971EE12-2D95-4B44-A02A-C26A457A9FAA}">
      <dgm:prSet/>
      <dgm:spPr/>
      <dgm:t>
        <a:bodyPr/>
        <a:lstStyle/>
        <a:p>
          <a:endParaRPr lang="en-US"/>
        </a:p>
      </dgm:t>
    </dgm:pt>
    <dgm:pt modelId="{5C784C19-AAFF-4081-AB00-37E89013DD90}" type="sibTrans" cxnId="{A971EE12-2D95-4B44-A02A-C26A457A9FAA}">
      <dgm:prSet/>
      <dgm:spPr/>
      <dgm:t>
        <a:bodyPr/>
        <a:lstStyle/>
        <a:p>
          <a:endParaRPr lang="en-US"/>
        </a:p>
      </dgm:t>
    </dgm:pt>
    <dgm:pt modelId="{D10F6378-38B6-4F16-8465-564EB911BE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4A682EF-D052-44E9-A1C1-3535D497066C}" type="parTrans" cxnId="{835B28A9-791F-4A8B-82DE-A55CF8935DE8}">
      <dgm:prSet/>
      <dgm:spPr/>
      <dgm:t>
        <a:bodyPr/>
        <a:lstStyle/>
        <a:p>
          <a:endParaRPr lang="en-US"/>
        </a:p>
      </dgm:t>
    </dgm:pt>
    <dgm:pt modelId="{3D368555-70CB-44A8-86EC-1FAAD6A18D90}" type="sibTrans" cxnId="{835B28A9-791F-4A8B-82DE-A55CF8935DE8}">
      <dgm:prSet/>
      <dgm:spPr/>
      <dgm:t>
        <a:bodyPr/>
        <a:lstStyle/>
        <a:p>
          <a:endParaRPr lang="en-US"/>
        </a:p>
      </dgm:t>
    </dgm:pt>
    <dgm:pt modelId="{9F5D876F-230D-440E-B857-85D97D7130B4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809E8F-C21D-4A29-B3B0-DF6A3F34F64E}" type="parTrans" cxnId="{4655E242-D332-4C98-827F-5F250155F859}">
      <dgm:prSet/>
      <dgm:spPr/>
      <dgm:t>
        <a:bodyPr/>
        <a:lstStyle/>
        <a:p>
          <a:endParaRPr lang="en-US"/>
        </a:p>
      </dgm:t>
    </dgm:pt>
    <dgm:pt modelId="{49F3BDB2-C2B1-42F8-97B4-976CC772FC32}" type="sibTrans" cxnId="{4655E242-D332-4C98-827F-5F250155F859}">
      <dgm:prSet/>
      <dgm:spPr/>
      <dgm:t>
        <a:bodyPr/>
        <a:lstStyle/>
        <a:p>
          <a:endParaRPr lang="en-US"/>
        </a:p>
      </dgm:t>
    </dgm:pt>
    <dgm:pt modelId="{B99F4CEC-7B83-4F4B-ACD0-9B1C372F5EF5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15197B-6767-4EB1-B571-5D6D35DA94F9}" type="parTrans" cxnId="{BCE52558-193D-45DE-B2C0-87AC73ACA554}">
      <dgm:prSet/>
      <dgm:spPr/>
      <dgm:t>
        <a:bodyPr/>
        <a:lstStyle/>
        <a:p>
          <a:endParaRPr lang="en-US"/>
        </a:p>
      </dgm:t>
    </dgm:pt>
    <dgm:pt modelId="{567937F9-37A8-4E25-A728-060A0307227F}" type="sibTrans" cxnId="{BCE52558-193D-45DE-B2C0-87AC73ACA554}">
      <dgm:prSet/>
      <dgm:spPr/>
      <dgm:t>
        <a:bodyPr/>
        <a:lstStyle/>
        <a:p>
          <a:endParaRPr lang="en-US"/>
        </a:p>
      </dgm:t>
    </dgm:pt>
    <dgm:pt modelId="{EC9BEFF2-2111-4471-8803-4324383DF2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69BA70-8CCD-45C9-A508-90EE13E9E075}" type="parTrans" cxnId="{C51E9872-5989-4724-9966-5959B5F84234}">
      <dgm:prSet/>
      <dgm:spPr/>
      <dgm:t>
        <a:bodyPr/>
        <a:lstStyle/>
        <a:p>
          <a:endParaRPr lang="sk-SK"/>
        </a:p>
      </dgm:t>
    </dgm:pt>
    <dgm:pt modelId="{46E9C635-C380-420D-9BA9-3DAC071980B6}" type="sibTrans" cxnId="{C51E9872-5989-4724-9966-5959B5F84234}">
      <dgm:prSet/>
      <dgm:spPr/>
      <dgm:t>
        <a:bodyPr/>
        <a:lstStyle/>
        <a:p>
          <a:endParaRPr lang="sk-SK"/>
        </a:p>
      </dgm:t>
    </dgm:pt>
    <dgm:pt modelId="{0A662021-1045-4D48-87DB-890F09E945B6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Pridanie podpory spracovania slovenského jazyka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15EAF63-EDCA-4526-A852-42A4C30D7E3E}" type="parTrans" cxnId="{BFF1C67E-9BCB-44A2-B569-CF633E255D36}">
      <dgm:prSet/>
      <dgm:spPr/>
      <dgm:t>
        <a:bodyPr/>
        <a:lstStyle/>
        <a:p>
          <a:endParaRPr lang="sk-SK"/>
        </a:p>
      </dgm:t>
    </dgm:pt>
    <dgm:pt modelId="{C0E4DC29-0138-4135-9663-0F71A0AE3559}" type="sibTrans" cxnId="{BFF1C67E-9BCB-44A2-B569-CF633E255D36}">
      <dgm:prSet/>
      <dgm:spPr/>
      <dgm:t>
        <a:bodyPr/>
        <a:lstStyle/>
        <a:p>
          <a:endParaRPr lang="sk-SK"/>
        </a:p>
      </dgm:t>
    </dgm:pt>
    <dgm:pt modelId="{FB40D41C-506F-4F81-9FDF-D54BBA0ED17D}" type="pres">
      <dgm:prSet presAssocID="{8ED0CC52-0F20-40CF-AF79-4F04F060B18E}" presName="linear" presStyleCnt="0">
        <dgm:presLayoutVars>
          <dgm:dir/>
          <dgm:animLvl val="lvl"/>
          <dgm:resizeHandles val="exact"/>
        </dgm:presLayoutVars>
      </dgm:prSet>
      <dgm:spPr/>
    </dgm:pt>
    <dgm:pt modelId="{459463CA-41FC-4EFE-AB6E-FEEF203C1FF5}" type="pres">
      <dgm:prSet presAssocID="{B838A42A-CB62-4C09-A028-932663531448}" presName="parentLin" presStyleCnt="0"/>
      <dgm:spPr/>
    </dgm:pt>
    <dgm:pt modelId="{E4AE64C8-7026-42BE-8CF0-6C9DD2CAF5CE}" type="pres">
      <dgm:prSet presAssocID="{B838A42A-CB62-4C09-A028-932663531448}" presName="parentLeftMargin" presStyleLbl="node1" presStyleIdx="0" presStyleCnt="2"/>
      <dgm:spPr/>
    </dgm:pt>
    <dgm:pt modelId="{5569F79B-8A7E-454D-9945-DA02DD4FA4E6}" type="pres">
      <dgm:prSet presAssocID="{B838A42A-CB62-4C09-A028-93266353144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30CABAD-AF11-46C1-861A-A26F59A0D052}" type="pres">
      <dgm:prSet presAssocID="{B838A42A-CB62-4C09-A028-932663531448}" presName="negativeSpace" presStyleCnt="0"/>
      <dgm:spPr/>
    </dgm:pt>
    <dgm:pt modelId="{8573B9D6-7C8A-466E-A52A-E39C7D467317}" type="pres">
      <dgm:prSet presAssocID="{B838A42A-CB62-4C09-A028-932663531448}" presName="childText" presStyleLbl="conFgAcc1" presStyleIdx="0" presStyleCnt="2">
        <dgm:presLayoutVars>
          <dgm:bulletEnabled val="1"/>
        </dgm:presLayoutVars>
      </dgm:prSet>
      <dgm:spPr/>
    </dgm:pt>
    <dgm:pt modelId="{3FB86631-4935-49C1-837D-33F4D71FDC15}" type="pres">
      <dgm:prSet presAssocID="{CE6A072C-1073-4CB1-BE0E-3DB223590B00}" presName="spaceBetweenRectangles" presStyleCnt="0"/>
      <dgm:spPr/>
    </dgm:pt>
    <dgm:pt modelId="{50B96115-086E-4A8B-AD22-8AC2C9BF0901}" type="pres">
      <dgm:prSet presAssocID="{9F5D876F-230D-440E-B857-85D97D7130B4}" presName="parentLin" presStyleCnt="0"/>
      <dgm:spPr/>
    </dgm:pt>
    <dgm:pt modelId="{D7BFFD3E-2DEF-40DE-B526-E25BC8E138A5}" type="pres">
      <dgm:prSet presAssocID="{9F5D876F-230D-440E-B857-85D97D7130B4}" presName="parentLeftMargin" presStyleLbl="node1" presStyleIdx="0" presStyleCnt="2"/>
      <dgm:spPr/>
    </dgm:pt>
    <dgm:pt modelId="{50E3318B-6C41-4B98-B2B0-64E18F5CAE3A}" type="pres">
      <dgm:prSet presAssocID="{9F5D876F-230D-440E-B857-85D97D7130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C1C5217-B6DD-45A1-A87E-EA3A9DDC6713}" type="pres">
      <dgm:prSet presAssocID="{9F5D876F-230D-440E-B857-85D97D7130B4}" presName="negativeSpace" presStyleCnt="0"/>
      <dgm:spPr/>
    </dgm:pt>
    <dgm:pt modelId="{E6A1D4FB-38B8-4ECD-AD84-424B8F8CF3EE}" type="pres">
      <dgm:prSet presAssocID="{9F5D876F-230D-440E-B857-85D97D7130B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61B7002-B9CA-40D5-BD5F-B3021D1223F9}" type="presOf" srcId="{0A662021-1045-4D48-87DB-890F09E945B6}" destId="{8573B9D6-7C8A-466E-A52A-E39C7D467317}" srcOrd="0" destOrd="3" presId="urn:microsoft.com/office/officeart/2005/8/layout/list1"/>
    <dgm:cxn modelId="{A971EE12-2D95-4B44-A02A-C26A457A9FAA}" srcId="{B838A42A-CB62-4C09-A028-932663531448}" destId="{15700217-1A4B-43A7-98F4-5FAED1604FA0}" srcOrd="1" destOrd="0" parTransId="{44369C9B-277B-47D7-83E5-023240EB3A51}" sibTransId="{5C784C19-AAFF-4081-AB00-37E89013DD90}"/>
    <dgm:cxn modelId="{63F3E32A-29EA-4C02-8DAA-5A8798306EC6}" type="presOf" srcId="{B838A42A-CB62-4C09-A028-932663531448}" destId="{5569F79B-8A7E-454D-9945-DA02DD4FA4E6}" srcOrd="1" destOrd="0" presId="urn:microsoft.com/office/officeart/2005/8/layout/list1"/>
    <dgm:cxn modelId="{1C263133-6A20-49FB-9A8C-21A03DB12585}" type="presOf" srcId="{B99F4CEC-7B83-4F4B-ACD0-9B1C372F5EF5}" destId="{E6A1D4FB-38B8-4ECD-AD84-424B8F8CF3EE}" srcOrd="0" destOrd="0" presId="urn:microsoft.com/office/officeart/2005/8/layout/list1"/>
    <dgm:cxn modelId="{DBDBFB3C-E9E4-49DB-A4B1-1597F0D03400}" type="presOf" srcId="{8ED0CC52-0F20-40CF-AF79-4F04F060B18E}" destId="{FB40D41C-506F-4F81-9FDF-D54BBA0ED17D}" srcOrd="0" destOrd="0" presId="urn:microsoft.com/office/officeart/2005/8/layout/list1"/>
    <dgm:cxn modelId="{DB0E5D60-830A-4415-AB21-928F477F4E1B}" type="presOf" srcId="{9F5D876F-230D-440E-B857-85D97D7130B4}" destId="{50E3318B-6C41-4B98-B2B0-64E18F5CAE3A}" srcOrd="1" destOrd="0" presId="urn:microsoft.com/office/officeart/2005/8/layout/list1"/>
    <dgm:cxn modelId="{4655E242-D332-4C98-827F-5F250155F859}" srcId="{8ED0CC52-0F20-40CF-AF79-4F04F060B18E}" destId="{9F5D876F-230D-440E-B857-85D97D7130B4}" srcOrd="1" destOrd="0" parTransId="{EA809E8F-C21D-4A29-B3B0-DF6A3F34F64E}" sibTransId="{49F3BDB2-C2B1-42F8-97B4-976CC772FC32}"/>
    <dgm:cxn modelId="{68836D66-8213-43D7-8B4C-C64DABA29F01}" type="presOf" srcId="{B838A42A-CB62-4C09-A028-932663531448}" destId="{E4AE64C8-7026-42BE-8CF0-6C9DD2CAF5CE}" srcOrd="0" destOrd="0" presId="urn:microsoft.com/office/officeart/2005/8/layout/list1"/>
    <dgm:cxn modelId="{CFA88D51-535B-49A9-9BF2-D1AA2880108D}" type="presOf" srcId="{15700217-1A4B-43A7-98F4-5FAED1604FA0}" destId="{8573B9D6-7C8A-466E-A52A-E39C7D467317}" srcOrd="0" destOrd="1" presId="urn:microsoft.com/office/officeart/2005/8/layout/list1"/>
    <dgm:cxn modelId="{C51E9872-5989-4724-9966-5959B5F84234}" srcId="{9F5D876F-230D-440E-B857-85D97D7130B4}" destId="{EC9BEFF2-2111-4471-8803-4324383DF2C2}" srcOrd="1" destOrd="0" parTransId="{1C69BA70-8CCD-45C9-A508-90EE13E9E075}" sibTransId="{46E9C635-C380-420D-9BA9-3DAC071980B6}"/>
    <dgm:cxn modelId="{BCE52558-193D-45DE-B2C0-87AC73ACA554}" srcId="{9F5D876F-230D-440E-B857-85D97D7130B4}" destId="{B99F4CEC-7B83-4F4B-ACD0-9B1C372F5EF5}" srcOrd="0" destOrd="0" parTransId="{7215197B-6767-4EB1-B571-5D6D35DA94F9}" sibTransId="{567937F9-37A8-4E25-A728-060A0307227F}"/>
    <dgm:cxn modelId="{BFF1C67E-9BCB-44A2-B569-CF633E255D36}" srcId="{B838A42A-CB62-4C09-A028-932663531448}" destId="{0A662021-1045-4D48-87DB-890F09E945B6}" srcOrd="3" destOrd="0" parTransId="{415EAF63-EDCA-4526-A852-42A4C30D7E3E}" sibTransId="{C0E4DC29-0138-4135-9663-0F71A0AE3559}"/>
    <dgm:cxn modelId="{835B28A9-791F-4A8B-82DE-A55CF8935DE8}" srcId="{B838A42A-CB62-4C09-A028-932663531448}" destId="{D10F6378-38B6-4F16-8465-564EB911BEC2}" srcOrd="2" destOrd="0" parTransId="{B4A682EF-D052-44E9-A1C1-3535D497066C}" sibTransId="{3D368555-70CB-44A8-86EC-1FAAD6A18D90}"/>
    <dgm:cxn modelId="{314C59B0-AC9E-4D63-9A12-0B5E65E59B4C}" type="presOf" srcId="{D10F6378-38B6-4F16-8465-564EB911BEC2}" destId="{8573B9D6-7C8A-466E-A52A-E39C7D467317}" srcOrd="0" destOrd="2" presId="urn:microsoft.com/office/officeart/2005/8/layout/list1"/>
    <dgm:cxn modelId="{9FAB69C1-FF52-46B6-8038-154E77D254EE}" srcId="{8ED0CC52-0F20-40CF-AF79-4F04F060B18E}" destId="{B838A42A-CB62-4C09-A028-932663531448}" srcOrd="0" destOrd="0" parTransId="{B9A6095C-C0F6-4A29-9E46-D8502AF44886}" sibTransId="{CE6A072C-1073-4CB1-BE0E-3DB223590B00}"/>
    <dgm:cxn modelId="{0AFA69C1-E771-4A0F-81F3-4664ED269560}" type="presOf" srcId="{7DE2F2FD-5641-4E38-9F32-4B63B42084C1}" destId="{8573B9D6-7C8A-466E-A52A-E39C7D467317}" srcOrd="0" destOrd="0" presId="urn:microsoft.com/office/officeart/2005/8/layout/list1"/>
    <dgm:cxn modelId="{2A9C7DD2-5050-49E7-B379-90971A4D55D4}" srcId="{B838A42A-CB62-4C09-A028-932663531448}" destId="{7DE2F2FD-5641-4E38-9F32-4B63B42084C1}" srcOrd="0" destOrd="0" parTransId="{92BF8DC5-7D09-4283-A03D-BF6C4414473A}" sibTransId="{3EFFB30E-F896-4A6A-8A34-8CA2D072C060}"/>
    <dgm:cxn modelId="{DA83CED3-A712-401D-9297-912496593AC0}" type="presOf" srcId="{9F5D876F-230D-440E-B857-85D97D7130B4}" destId="{D7BFFD3E-2DEF-40DE-B526-E25BC8E138A5}" srcOrd="0" destOrd="0" presId="urn:microsoft.com/office/officeart/2005/8/layout/list1"/>
    <dgm:cxn modelId="{58F1F6D6-0284-447D-8226-FBBA5653C483}" type="presOf" srcId="{EC9BEFF2-2111-4471-8803-4324383DF2C2}" destId="{E6A1D4FB-38B8-4ECD-AD84-424B8F8CF3EE}" srcOrd="0" destOrd="1" presId="urn:microsoft.com/office/officeart/2005/8/layout/list1"/>
    <dgm:cxn modelId="{BD63345D-1C2D-46C9-BD64-BF412508B608}" type="presParOf" srcId="{FB40D41C-506F-4F81-9FDF-D54BBA0ED17D}" destId="{459463CA-41FC-4EFE-AB6E-FEEF203C1FF5}" srcOrd="0" destOrd="0" presId="urn:microsoft.com/office/officeart/2005/8/layout/list1"/>
    <dgm:cxn modelId="{95506700-1348-40CB-878B-574F52D3A5FC}" type="presParOf" srcId="{459463CA-41FC-4EFE-AB6E-FEEF203C1FF5}" destId="{E4AE64C8-7026-42BE-8CF0-6C9DD2CAF5CE}" srcOrd="0" destOrd="0" presId="urn:microsoft.com/office/officeart/2005/8/layout/list1"/>
    <dgm:cxn modelId="{A54A1218-CC48-4BC4-8AF9-D1BDB02CF5A1}" type="presParOf" srcId="{459463CA-41FC-4EFE-AB6E-FEEF203C1FF5}" destId="{5569F79B-8A7E-454D-9945-DA02DD4FA4E6}" srcOrd="1" destOrd="0" presId="urn:microsoft.com/office/officeart/2005/8/layout/list1"/>
    <dgm:cxn modelId="{B2C4F8E9-8F8B-4501-9D6F-0B0808B86A6C}" type="presParOf" srcId="{FB40D41C-506F-4F81-9FDF-D54BBA0ED17D}" destId="{C30CABAD-AF11-46C1-861A-A26F59A0D052}" srcOrd="1" destOrd="0" presId="urn:microsoft.com/office/officeart/2005/8/layout/list1"/>
    <dgm:cxn modelId="{AD5CE399-2EDC-472A-BF62-A9D98F4DF338}" type="presParOf" srcId="{FB40D41C-506F-4F81-9FDF-D54BBA0ED17D}" destId="{8573B9D6-7C8A-466E-A52A-E39C7D467317}" srcOrd="2" destOrd="0" presId="urn:microsoft.com/office/officeart/2005/8/layout/list1"/>
    <dgm:cxn modelId="{918BCEFA-CF13-448C-A82E-074DB326C08A}" type="presParOf" srcId="{FB40D41C-506F-4F81-9FDF-D54BBA0ED17D}" destId="{3FB86631-4935-49C1-837D-33F4D71FDC15}" srcOrd="3" destOrd="0" presId="urn:microsoft.com/office/officeart/2005/8/layout/list1"/>
    <dgm:cxn modelId="{1DFF48BC-9298-4580-A44B-161243761F9B}" type="presParOf" srcId="{FB40D41C-506F-4F81-9FDF-D54BBA0ED17D}" destId="{50B96115-086E-4A8B-AD22-8AC2C9BF0901}" srcOrd="4" destOrd="0" presId="urn:microsoft.com/office/officeart/2005/8/layout/list1"/>
    <dgm:cxn modelId="{DDF9D583-2395-4CA4-90C5-F04D209E282B}" type="presParOf" srcId="{50B96115-086E-4A8B-AD22-8AC2C9BF0901}" destId="{D7BFFD3E-2DEF-40DE-B526-E25BC8E138A5}" srcOrd="0" destOrd="0" presId="urn:microsoft.com/office/officeart/2005/8/layout/list1"/>
    <dgm:cxn modelId="{A5BA1E7C-3142-40AC-932F-36626B4FF674}" type="presParOf" srcId="{50B96115-086E-4A8B-AD22-8AC2C9BF0901}" destId="{50E3318B-6C41-4B98-B2B0-64E18F5CAE3A}" srcOrd="1" destOrd="0" presId="urn:microsoft.com/office/officeart/2005/8/layout/list1"/>
    <dgm:cxn modelId="{99F64103-5644-4F51-AB64-FFFC3D4B1A7E}" type="presParOf" srcId="{FB40D41C-506F-4F81-9FDF-D54BBA0ED17D}" destId="{6C1C5217-B6DD-45A1-A87E-EA3A9DDC6713}" srcOrd="5" destOrd="0" presId="urn:microsoft.com/office/officeart/2005/8/layout/list1"/>
    <dgm:cxn modelId="{182071EF-6ABA-45FF-A41C-5BB0C11A2FBE}" type="presParOf" srcId="{FB40D41C-506F-4F81-9FDF-D54BBA0ED17D}" destId="{E6A1D4FB-38B8-4ECD-AD84-424B8F8CF3E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73B9D6-7C8A-466E-A52A-E39C7D467317}">
      <dsp:nvSpPr>
        <dsp:cNvPr id="0" name=""/>
        <dsp:cNvSpPr/>
      </dsp:nvSpPr>
      <dsp:spPr>
        <a:xfrm>
          <a:off x="0" y="447438"/>
          <a:ext cx="9858191" cy="194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sz="2200" kern="1200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Pridanie podpory spracovania slovenského jazyka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447438"/>
        <a:ext cx="9858191" cy="1940400"/>
      </dsp:txXfrm>
    </dsp:sp>
    <dsp:sp modelId="{5569F79B-8A7E-454D-9945-DA02DD4FA4E6}">
      <dsp:nvSpPr>
        <dsp:cNvPr id="0" name=""/>
        <dsp:cNvSpPr/>
      </dsp:nvSpPr>
      <dsp:spPr>
        <a:xfrm>
          <a:off x="492909" y="122718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154421"/>
        <a:ext cx="6837327" cy="586034"/>
      </dsp:txXfrm>
    </dsp:sp>
    <dsp:sp modelId="{E6A1D4FB-38B8-4ECD-AD84-424B8F8CF3EE}">
      <dsp:nvSpPr>
        <dsp:cNvPr id="0" name=""/>
        <dsp:cNvSpPr/>
      </dsp:nvSpPr>
      <dsp:spPr>
        <a:xfrm>
          <a:off x="0" y="2831359"/>
          <a:ext cx="9858191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831359"/>
        <a:ext cx="9858191" cy="1247400"/>
      </dsp:txXfrm>
    </dsp:sp>
    <dsp:sp modelId="{50E3318B-6C41-4B98-B2B0-64E18F5CAE3A}">
      <dsp:nvSpPr>
        <dsp:cNvPr id="0" name=""/>
        <dsp:cNvSpPr/>
      </dsp:nvSpPr>
      <dsp:spPr>
        <a:xfrm>
          <a:off x="492909" y="2506639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2538342"/>
        <a:ext cx="6837327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5D392-0CAC-4457-8BCE-9AC73B589516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B520EB-4DD3-43FA-AF8C-5E5593FD7DA4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7110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b="0" i="0" u="non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Dobrý deň, moje meno je Zdenko Németh a rád by som vám predstavil tému svojej diplomovej práce s názvom Model distribúcie interpunkčných znamienok v rôznych textoch.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77538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Cieľom mojej práce je analyzovať distribúciu interpunkčných znamienok a slov v rôznych typoch textov.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Vo svojej práci využívam aplikáciu z bakalárskej práce, ktorú ďalej rozširujem o nové funkcionality, kvalitnejšie predspracovanie textu a podporu viacerých jazykov.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Následne vytváram pozičné slovné siete a budem skúmať, do akej miery ich vlastnosti zodpovedajú známym matematickým modelom. Taktiež porovnávam vlastnosti sietí pri rôznych úpravách textu, napríklad pri permutácii slov alebo viet.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Súčasťou práce je aj porovnanie originálnych textov s AI generovanými textami a sledovanie rozdielov v ich štruktúre.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873229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rámci diplomovej práce nadväzujem na aplikáciu, ktorú som vytvoril už počas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Táto aplikácia umožňuje vytvárať pozičné slovné siete z textu a vykonávať základnú grafovú aj jazykovú analýzu.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Už v pôvodnej verzii obsahovala tokenizáciu textu, možnosť výberu jazyka, prácu s interpunkčnými znamienkami, tvorbu slovných sietí a analýzu distribúcie stupňov vrcholov.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Podporované boli dva jazyky — angličtina a nemčina.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diplomovej práci túto aplikáciu ďalej rozširujem a upravujem, najmä v oblasti kvalitnejšieho jazykového spracovania a experimentov s rôznymi typmi textov.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831051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ukážka pôvodnej aplikácie z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Používateľ si vie načítať textový súbor, vybrať jazyk a zvoliť, ktoré interpunkčné znamienka budú zahrnuté do analýzy.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 viacero funkcionalít, z ktorých si používateľ môže vybrať — napríklad uloženie vytvorenej siete pre ďalšie externé spracovanie, analýzu distribúcie stupňov uzlov, grafovú a jazykovú analýzu alebo analýzu rastu siete.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pravej strane je ukážka porovnania distribúcie stupňov vrcholov reálnej siete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modelom.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007035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Analýza rastu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grafe je zobrazený vývoj exponentu gama pri raste siete vytvorenej z textu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Vianočná koleda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od Charlesa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Dickensa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osi X sa nachádza počet vrcholov siete a na osi Y hodnota exponentu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mocninového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rozdelenia.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pri malých sieťach hodnota výraznejšie kolíše, no so zväčšujúcim sa počtom vrcholov sa postupne stabilizuje približne okolo hodnoty 2.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naznačuje, že vytvorená jazyková sieť vykazuje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 a distribúcia stupňov vrcholov sa približuje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mocninovému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rozdeleniu.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45894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 predstavujú spôsob, ako môžeme text reprezentovať pomocou grafu.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Jedná sa o neorientovaný neohodnotený graf.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Jednotlivé uzly reprezentujú slová a hrany vznikajú medzi slovami, ktoré sa v texte nachádzajú vedľa seba.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Takáto sieť dokáže zachytiť lokálne vzťahy medzi slovami a štruktúru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jednoduchom príklade môžeme vidieť vetu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cat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sits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chair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ktorá sa po spracovaní prevedie na postupnosť prepojených uzlov reprezentujúcich jednotlivé slová alebo ich lemy.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06299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sú zhrnuté hlavné rozšírenia aplikácie, ktoré som zatiaľ implementoval, a zároveň plánované funkcionality do ďalšej fázy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Jednou z najdôležitejších zmien bolo nasadenie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na tokenizáciu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textu, čo umožnilo kvalitnejšie spracovanie rôznych jazykov a zjednotenie rôznych tvarov slov.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Ďalej som implementoval permutácie viet a slov, pomocou ktorých skúmam, ako sa mení štruktúra siete pri narušení pôvodného poradia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Pridal som aj experimenty s AI generovanými textami a podporu slovenského jazyka, ktorý pôvodná aplikácia nepodporovala.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Do budúcna plánujem implementovať ďalšie matematické modely na porovnanie distribúcií a rozšíriť aplikáciu o grafické vizualizácie jazykovej analýzy.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64609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Jednou z najzásadnejších zmien bolo rozšírenie aplikácie pomocou nástroja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verzia aplikácie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tokenizáciu, ktorá síce fungovala pre jednoduché prípady, no pri prirodzenom jazyku narážala na viacero problémov.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Rôzne tvary slov, skloňovanie alebo časovanie spôsobovali, že sa rovnaké slovo v sieti reprezentovalo ako viacero rôznych uzlov. Pri podpore ďalších jazykov by bolo navyše potrebné implementovať množstvo špecifických pravidiel.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Použitie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prinieslo presnejšiu tokenizáciu a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teda prevod slov do ich základného tvaru.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spodnej ukážke je vidieť, že rôzne tvary slova „programovať“ sú po spracovaní prevedené na spoločný základný tvar, čo vedie 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konzistentnejšiemu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vytváraniu pozičných slovných sietí.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10705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porovnanie pôvodného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predspracovania textu a nového spracovania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na texte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Christmas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Carol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 anglickej verzii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po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sa znížil počet uzlov aj hrán v sieti. Je to spôsobené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lemmatizáciou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teda zjednotením rôznych tvarov slov do základného tvaru.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Zároveň sa mierne zvýšil priemerný stupeň vrcholov,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kompaktnejšiu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štruktúru siete.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Skrátila sa aj priemerná najkratšia cesta a znížil sa priemer siete, takže sieť je po spracovaní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viac prepojená.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Rozdiely možno pozorovať aj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bigramoch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trigramoch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kde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vytvára stabilnejšie jazykové štruktúry vďaka presnejšej tokenizácii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31641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rovnaké porovnanie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predspracovania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tentokrát však pre text s ponechanou interpunkciou.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v tomto prípade možno vidieť pokles počtu uzlov a hrán po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je opäť dôsledok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presnejšieho spracovania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Zároveň sa zvýšil priemerný stupeň vrcholov,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takže výsledná sieť je kompaktnejšia a lepšie prepojená.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je, že pri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mierne vzrástol počet zachytených interpunkčných znamienok, čo naznačuje presnejšiu tokenizáciu interpunkcie oproti pôvodnému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riešeniu.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Podobne ako pri texte bez interpunkcie možno pozorovať aj stabilnejšie hodnoty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vedie 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jazykovej reprezentácii textu.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04538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ďalšej časti prezentácie by som chcel ukázať niekoľko experimentov, ktoré som realizoval nad vytvorenými pozičnými slovnými sieťami.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Zameriaval som sa hlavne na grafovú a jazykovú analýzu textov, sledovanie zmien štruktúry siete pri rôznych úpravách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Cieľom bolo zistiť, ktoré vlastnosti siete zostávajú stabilné a ktoré sa výrazne menia pri narušení pôvodnej štruktúry textu.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Bude sa jednať o spracovania už na novej verzii aplikácie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90949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zobrazený vplyv permutácie textu na pozičné slovné siete pre anglickú verziu textu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Christmas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Carol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Porovnával som tri varianty – pôvodný text bez úprav, náhodné premiešanie viet a náhodné premiešanie slov.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viet sa väčšina metrík mení len minimálne. Počet uzlov,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zostávajú veľmi podobné, čo naznačuje, že lokálne vzťahy medzi slovami sa vo veľkej miere zachovávajú.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Naopak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slov dochádza k výraznejším zmenám. Zvýšil sa počet hrán, priemerný stupeň vrcholov aj počet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zatiaľ čo maximálne frekvencie výrazne klesli.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naznačuje, že náhodné premiešanie slov narúša prirodzenú jazykovú štruktúru textu a vytvára oveľa náhodnejšie spojenia medzi slovami.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39890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rovnaký experiment, tentokrát však pre text s ponechanou interpunkciou.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Opäť možno vidieť, že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viet spôsobuje len veľmi malé zmeny v jednotlivých metrikách siete. Väčšina vlastností zostáva stabilná, pretože lokálne vzťahy medzi slovami a interpunkciou sa vo vetách zachovávajú.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slov sú však zmeny výraznejšie. Zvýšil sa počet hrán, priemerný stupeň vrcholov aj počet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zatiaľ čo maximálne frekvencie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výrazne poklesli.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je, že aj po premiešaní slov zostáva počet interpunkčných znamienok rovnaký, no mení sa ich kontext a prepojenie so slovami v sieti.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Výsledky teda opäť ukazujú, že náhodná permutácia slov narúša prirodzenú jazykovú štruktúru textu oveľa výraznejšie než permutácia viet.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22764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porovnanie originálneho textu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Picture of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Dorian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Gray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 AI generovaným textom vytvoreným na základe rovnakého štýlu autora. Analýza bola vykonaná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Vidíme, že základné vlastnosti siete sú si pomerne podobné, napríklad hustota siete alebo priemerná dĺžka najkratšej cesty. To naznačuje, že AI dokáže do určitej miery napodobniť globálnu štruktúru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Rozdiely sa však objavujú pri komplexnejších vlastnostiach siete. Originálny text má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viac hrán,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bohatšie a prirodzenejšie vzťahy medzi slovami.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AI generovaný text má naopak vyššiu maximálnu frekvenciu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vyšší maximálny stupeň vrcholu, čo môže znamenať častejšie opakovanie určitých vzorov alebo fráz.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výsledky ukazujú, že aj keď AI vie vytvoriť text podobný originálu, štruktúra pozičnej slovnej siete stále obsahuje merateľné rozdiely oproti reálnemu textu.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70288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rovnaké porovnanie originálneho textu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Picture of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Dorian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Gray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AI generovaného textu, tentokrát však vrátane interpunkčných znamienok.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Interpunkcia výrazne ovplyvnila štruktúru siete, pretože sa z nej stali samostatné uzly a zároveň vytvárajú nové spojenia medzi slovami. Vidíme napríklad výrazne vyšší maximálny stupeň vrcholu, kde dominujú najmä čiarky a bodky.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v tomto prípade si AI text zachováva podobné základné vlastnosti siete, napríklad hustotu siete alebo priemernú dĺžku najkratšej cesty. Originálny text však stále dosahuje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obsahuje viac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prirodzenejšiu a bohatšiu jazykovú štruktúru.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 aj to, že originálny text obsahuje výrazne viac interpunkčných znamienok a viet, čo môže súvisieť s väčšou štylistickou rozmanitosťou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výsledky ukazujú, že interpunkcia hrá dôležitú úlohu pri tvorbe pozičných slovných sietí a zároveň zvýrazňuje rozdiely medzi reálnym a AI generovaným textom.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Do budúcna mám v pláne spraviť porovnanie so zložitejšími typmi textu.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87807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prehľad modelov, ktoré plánujem v ďalšej fáze práce implementovať a porovnávať s vytvorenými pozičnými slovnými sieťami.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modely pochádzajú zo sieťovej teórie a štatistiky jazyka a umožňujú opísať rôzne vlastnosti textových sietí, napríklad rozdelenie stupňov vrcholov,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vznik často používaných slov.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 DGM 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je 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(Jazykové)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zákon opisuje prirodzenú distribúciu slov v jazyku. Znamená to, že najčastejšie slovo sa v texte objavuje veľmi veľa krát, druhé približne polovične často, tretie tretinovo a podobne.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sa používa ako základný jazykový model a slúži na overenie, či sa text správa ako prirodzený jazyk. Pri porovnaní sledujem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rank-frequency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slov a exponent alfa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Simon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(Jazykové)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Simonov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vysvetľuje, ako môže prirodzene vzniknúť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distribúcia slov. Model funguje tak, že sa buď pridá nové slovo, alebo sa zopakuje už existujúce slovo s pravdepodobnosťou závislou od jeho frekvencie.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Výsledkom je, že často používané slová sa stávajú ešte častejšími. Model sa používa na simuláciu rastu slovnej zásoby v texte.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vytvára rastúcu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sieť. Nové uzly sa nepripájajú k uzlom, ale ku existujúcim hranám, čím vzniká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vhodný pre jazykové siete, pretože dokáže lepšie zachytiť lokálne vzťahy medzi slovami. Pri porovnaní sledujem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(BA)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model funguje na princípe preferenčného pripájania. To znamená, že uzly s veľkým počtom spojení získavajú nové spojenia jednoduchšie.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Výsledkom 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distribúciou stupňov vrcholov. Model sa často používa ako základný model komplexných sietí.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Bianconi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rozširuje BA model o vlastnosť nazývanú fitness alebo atraktivita uzla. Znamená to, že niektoré uzly majú väčšiu schopnosť získavať spojenia než iné.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uzol s malým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môže rýchlo rásť, ak má vysokú fitness. Tento model môže lepšie vystihovať jazyk, pretože niektoré slová sú prirodzene významnejšie alebo univerzálnejšie.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43436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Nonlinear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rozšírením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modelu. Pravdepodobnosť získania nového spojenia nie je lineárna, ale závisí od stupňa uzla podľa exponentu alfa.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znamená, že rast siete môže byť slabší alebo silnejší než pri klasickom BA modeli. Model umožňuje flexibilnejšie opisovať reálne siete, ktoré nemusia mať presne lineárne preferenčné pripájanie.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(Kontrolné)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slúži ako kontrolný alebo referenčný model. Zachováva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pôvodnej siete, ale spojenia medzi uzlami vytvára náhodne.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Pomocou tohto modelu viem overiť, či vlastnosti siete vznikajú iba z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distribúcie, alebo či existujú aj zložitejšie štrukturálne vzťahy medzi slovami.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vytvára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siete. Sieť má vysoký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ale zároveň krátke cesty medzi uzlami.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zaujímavý pre jazykové siete, pretože prirodzený jazyk často vykazuje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 — slová tvoria lokálne skupiny, ale zároveň sú medzi nimi krátke spojenia.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(Náhodné)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predstavuje úplne náhodnú sieť. Každý pár uzlov má určitú pravdepodobnosť, že bude spojený hranou.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Používa sa hlavne ako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nulový model. Pomáha ukázať, že jazykové siete nevznikajú náhodne, ale majú špecifickú štruktúru, napríklad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Modely chcem implementovať podľa náročnosti, aj na vyvrátenie, že mu daná sieť nezodpovedá, napr.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(Náhodné).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034667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sú uvedené hlavné vedecké články a zdroje, z ktorých pri práci vychádzam.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Prvý článok sa venuje tomu, že interpunkčné znamienka sa v textoch správajú podobne ako bežné slová. Autori ukazujú, že aj interpunkcia má podobnú štatistickú distribúciu a výrazne ovplyvňuje vlastnosti jazykových sietí, napríklad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shortest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 Tento článok bol jednou z motivácií zaradiť interpunkciu priamo do analýzy.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Druhý článok sa zaoberá analýzou prirodzeného jazyka pomocou teórie komplexných sietí. Skúma vznik vzťahov medzi slovami a modelovanie rastu jazykových sietí pomocou preferenčného pripájania.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377621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Prvým zdrojom je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od Alberta-Lászlóa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 Táto kniha vysvetľuje základné princípy komplexných sietí, napríklad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efekt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centralitu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uzlov. Zároveň opisuje matematické modely rastu sietí, ktoré plánujem porovnávať s pozičnými slovnými sieťami.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Druhý článok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Language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Evolving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Word Web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opisuje jazyk ako komplexnú sieť slov, kde slová predstavujú vrcholy a ich vzťahy tvoria hrany. Autori ukazujú, že jazykové siete vznikajú pomocou preferenčného pripájania a prirodzene získavajú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48110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á snímka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90176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18973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103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94651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28723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9417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8192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1945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39533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87154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4261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7570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4.0083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etra.uniba.sk/?fn=detailBiblioFormChildM12I2&amp;sid=FB57F9A55C85C1C4C89075265B&amp;seo=PETRA-detail-kapitola-/-pr%C3%ADspevok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networksciencebook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ublication/11606991_Language_as_an_Evolving_Word_Web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9CB7BA-06C4-73BC-CA1C-F7E3D4D7D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071" y="758952"/>
            <a:ext cx="10874829" cy="2980291"/>
          </a:xfrm>
        </p:spPr>
        <p:txBody>
          <a:bodyPr>
            <a:normAutofit fontScale="90000"/>
          </a:bodyPr>
          <a:lstStyle/>
          <a:p>
            <a:pPr algn="ctr"/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sz="6000" dirty="0">
                <a:latin typeface="Arial" panose="020B0604020202020204" pitchFamily="34" charset="0"/>
                <a:cs typeface="Arial" panose="020B0604020202020204" pitchFamily="34" charset="0"/>
              </a:rPr>
              <a:t> Model distribúcie interpunkčných znamienok v rôznych textoch 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C706C7-DCF5-ACC7-51EE-127297D334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7562" y="4501242"/>
            <a:ext cx="9056876" cy="1691640"/>
          </a:xfrm>
        </p:spPr>
        <p:txBody>
          <a:bodyPr>
            <a:normAutofit/>
          </a:bodyPr>
          <a:lstStyle/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Študent: Zdenko Németh</a:t>
            </a:r>
          </a:p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Vedúci práce: Doc. RNDr. Mária Markošová, PhD </a:t>
            </a:r>
          </a:p>
        </p:txBody>
      </p:sp>
    </p:spTree>
    <p:extLst>
      <p:ext uri="{BB962C8B-B14F-4D97-AF65-F5344CB8AC3E}">
        <p14:creationId xmlns:p14="http://schemas.microsoft.com/office/powerpoint/2010/main" val="291688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CDB0A2E-0AC2-9D27-E6EC-790670FA2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131717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Anotácia 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226E0D9-0596-1C0E-E2C5-00E58C472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457279"/>
            <a:ext cx="8595360" cy="4351337"/>
          </a:xfrm>
        </p:spPr>
        <p:txBody>
          <a:bodyPr>
            <a:normAutofit/>
          </a:bodyPr>
          <a:lstStyle/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Študent naprogramuje, alebo použije už naprogramovanú aplikáciu na hľadanie distribúcie interpunkčných znamienok v textoch v rôznych jazykoch. Ak študent použije hotovú aplikáciu, musí k nej doprogramovať všetko potrebné na analýzu distribúcie a na tvorbu jej modelu. Študent zanalyzuje distribúcie z textov toho istého autora v rôznych časových obdobiach aby zistil, ako sa táto vlastnosť textu mení a nakoľko ostáva stabilná. Navrhne matematický model tejto distribúcie, poprípade nájde parametre známeho matematického modelu, ktoré budú čo najlepšie vystihovať nameranú distribúciu. Porovná texty vygenerované AI v štýle nejakého spisovateľa s jeho originálnymi textami.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5" name="Nadpis 1">
            <a:extLst>
              <a:ext uri="{FF2B5EF4-FFF2-40B4-BE49-F238E27FC236}">
                <a16:creationId xmlns:a16="http://schemas.microsoft.com/office/drawing/2014/main" id="{05CDCF28-2A44-B2F4-4B9F-E25CB3D3F03F}"/>
              </a:ext>
            </a:extLst>
          </p:cNvPr>
          <p:cNvSpPr txBox="1">
            <a:spLocks/>
          </p:cNvSpPr>
          <p:nvPr/>
        </p:nvSpPr>
        <p:spPr>
          <a:xfrm>
            <a:off x="1249680" y="3332117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 </a:t>
            </a:r>
          </a:p>
        </p:txBody>
      </p:sp>
      <p:sp>
        <p:nvSpPr>
          <p:cNvPr id="6" name="Zástupný objekt pre obsah 2">
            <a:extLst>
              <a:ext uri="{FF2B5EF4-FFF2-40B4-BE49-F238E27FC236}">
                <a16:creationId xmlns:a16="http://schemas.microsoft.com/office/drawing/2014/main" id="{E15BC006-AE90-D31B-9BA2-986A835EB706}"/>
              </a:ext>
            </a:extLst>
          </p:cNvPr>
          <p:cNvSpPr txBox="1">
            <a:spLocks/>
          </p:cNvSpPr>
          <p:nvPr/>
        </p:nvSpPr>
        <p:spPr>
          <a:xfrm>
            <a:off x="1249680" y="4682331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Naprogramovať aplikáciu, alebo doprogramovať potrebné nástroje do aplikácie na analýzu distribúcií interpunkčných znamienok v textoch a vytvoriť matematický model opisujúci získané výsledky.</a:t>
            </a:r>
          </a:p>
        </p:txBody>
      </p:sp>
    </p:spTree>
    <p:extLst>
      <p:ext uri="{BB962C8B-B14F-4D97-AF65-F5344CB8AC3E}">
        <p14:creationId xmlns:p14="http://schemas.microsoft.com/office/powerpoint/2010/main" val="1054636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19C9690-F1F6-589E-440E-205F7EC63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29" y="365760"/>
            <a:ext cx="10519083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Existujúca aplikácia z bakalárskej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9D4D235-790D-5820-8B5D-2A3F9BF58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Aplikácia bola vytvorená v rámci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Umožňuje tvorbu pozičných slovných sietí z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Implementované: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tokenizácia textu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jazyka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interpunkcie pre analýzu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tvorba pozičnej slovnej siete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výpočet základnej grafovej a jazykovej analýzy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distribúcia stupňov vrcholov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vývoj slovnej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Podporovala 2 jazyky: Angličtinu a Nemčinu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54547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89AE6DA-A080-475C-BE02-EF343FBA6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33EF95-E91B-40C4-A692-E91065291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53CAC5D-D424-4EE2-A0C2-72ED7A88A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54DAE0-B2AD-D6A7-CEE3-04A128543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720348"/>
            <a:ext cx="5371395" cy="5417304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270E3E2D-979E-7A77-AED0-450C37984A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729" y="1318188"/>
            <a:ext cx="5371395" cy="421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9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2F24F1-C1EF-471F-A19B-A340CE541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6C425C-3C64-47BA-B583-94D39B9B7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4B6A9D3E-8529-4981-AC9B-AB3D2C4090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1956" y="643467"/>
            <a:ext cx="742808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89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0B63C9A-F7AB-BF1D-BB93-DFD7EA68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F790744-685E-BD75-7739-C7473322E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/>
              <a:t>Uzly reprezentujú slová</a:t>
            </a:r>
          </a:p>
          <a:p>
            <a:r>
              <a:rPr lang="sk-SK" dirty="0"/>
              <a:t>Hrany vznikajú medzi susednými slovami v texte</a:t>
            </a:r>
          </a:p>
          <a:p>
            <a:r>
              <a:rPr lang="sk-SK" dirty="0"/>
              <a:t>Sieť zachytáva lokálne vzťahy medzi slovami</a:t>
            </a:r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95F4AD38-7718-8552-A934-9AB4819971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2" y="5094407"/>
            <a:ext cx="5763429" cy="562053"/>
          </a:xfrm>
          <a:prstGeom prst="rect">
            <a:avLst/>
          </a:prstGeom>
        </p:spPr>
      </p:pic>
      <p:pic>
        <p:nvPicPr>
          <p:cNvPr id="7" name="Obrázok 6">
            <a:extLst>
              <a:ext uri="{FF2B5EF4-FFF2-40B4-BE49-F238E27FC236}">
                <a16:creationId xmlns:a16="http://schemas.microsoft.com/office/drawing/2014/main" id="{BBDF81CE-AF51-A015-63B0-100EE82527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58" y="3863845"/>
            <a:ext cx="3312037" cy="70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81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57A7AA9-D7AC-BB3F-C237-80524F5A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Rozšírenia aplikácie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19" name="Zástupný objekt pre obsah 2">
            <a:extLst>
              <a:ext uri="{FF2B5EF4-FFF2-40B4-BE49-F238E27FC236}">
                <a16:creationId xmlns:a16="http://schemas.microsoft.com/office/drawing/2014/main" id="{7406B6F3-1BBE-0814-A866-617D14BB67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7891803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03663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8C4EA75-0D5F-EAF6-6E4E-0F8A87E5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Rozšírenie aplikácie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38D4E8-6C9A-8417-0653-9DFE536DE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aplikácia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problém: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rôzne tvary slov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skloňovanie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časovanie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rozdielne jazyky znamenalo komplexná implementácia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výhody: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presnejšia tokenizácia textu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konzistentnejšie vytváranie pozičných slovných sietí</a:t>
            </a:r>
          </a:p>
          <a:p>
            <a:pPr lvl="1"/>
            <a:r>
              <a:rPr lang="sk-SK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lemmatizácia</a:t>
            </a:r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slov do základného tvaru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5C3D4465-3ACF-7883-7B62-38874F82A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94" y="5445186"/>
            <a:ext cx="11084506" cy="73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5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1BC5274-FAF0-4B00-3E27-6450F42CE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30" y="804672"/>
            <a:ext cx="3396342" cy="5183777"/>
          </a:xfrm>
        </p:spPr>
        <p:txBody>
          <a:bodyPr anchor="ctr">
            <a:normAutofit/>
          </a:bodyPr>
          <a:lstStyle/>
          <a:p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Regex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predspracovania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textu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sz="32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D787C055-2355-83A6-5DE0-39B6822736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9793120"/>
              </p:ext>
            </p:extLst>
          </p:nvPr>
        </p:nvGraphicFramePr>
        <p:xfrm>
          <a:off x="4959009" y="804672"/>
          <a:ext cx="5389750" cy="5262060"/>
        </p:xfrm>
        <a:graphic>
          <a:graphicData uri="http://schemas.openxmlformats.org/drawingml/2006/table">
            <a:tbl>
              <a:tblPr firstRow="1" bandRow="1"/>
              <a:tblGrid>
                <a:gridCol w="1825268">
                  <a:extLst>
                    <a:ext uri="{9D8B030D-6E8A-4147-A177-3AD203B41FA5}">
                      <a16:colId xmlns:a16="http://schemas.microsoft.com/office/drawing/2014/main" val="4226435326"/>
                    </a:ext>
                  </a:extLst>
                </a:gridCol>
                <a:gridCol w="1740958">
                  <a:extLst>
                    <a:ext uri="{9D8B030D-6E8A-4147-A177-3AD203B41FA5}">
                      <a16:colId xmlns:a16="http://schemas.microsoft.com/office/drawing/2014/main" val="4015871468"/>
                    </a:ext>
                  </a:extLst>
                </a:gridCol>
                <a:gridCol w="1823524">
                  <a:extLst>
                    <a:ext uri="{9D8B030D-6E8A-4147-A177-3AD203B41FA5}">
                      <a16:colId xmlns:a16="http://schemas.microsoft.com/office/drawing/2014/main" val="1892678017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Regex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UDPipe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70665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nodes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3725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3230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761938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14164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13077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37491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942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27995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7.60483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8.09721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842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0.00204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40033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0.35024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0.40852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05086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2.91347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2.82903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8856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3061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3725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3230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8440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word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51578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6.46819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6.18762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9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378027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15.99473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537088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14731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13857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74876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60128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1.46256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1.55676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17060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20238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29310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141408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1.06453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1.07769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2640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663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A05AC66C-C523-A1E8-AEE1-AED6BE547A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7950985"/>
              </p:ext>
            </p:extLst>
          </p:nvPr>
        </p:nvGraphicFramePr>
        <p:xfrm>
          <a:off x="4945287" y="804672"/>
          <a:ext cx="5417194" cy="5262054"/>
        </p:xfrm>
        <a:graphic>
          <a:graphicData uri="http://schemas.openxmlformats.org/drawingml/2006/table">
            <a:tbl>
              <a:tblPr firstRow="1" bandRow="1"/>
              <a:tblGrid>
                <a:gridCol w="2102527">
                  <a:extLst>
                    <a:ext uri="{9D8B030D-6E8A-4147-A177-3AD203B41FA5}">
                      <a16:colId xmlns:a16="http://schemas.microsoft.com/office/drawing/2014/main" val="2152116823"/>
                    </a:ext>
                  </a:extLst>
                </a:gridCol>
                <a:gridCol w="1558020">
                  <a:extLst>
                    <a:ext uri="{9D8B030D-6E8A-4147-A177-3AD203B41FA5}">
                      <a16:colId xmlns:a16="http://schemas.microsoft.com/office/drawing/2014/main" val="373609727"/>
                    </a:ext>
                  </a:extLst>
                </a:gridCol>
                <a:gridCol w="1756647">
                  <a:extLst>
                    <a:ext uri="{9D8B030D-6E8A-4147-A177-3AD203B41FA5}">
                      <a16:colId xmlns:a16="http://schemas.microsoft.com/office/drawing/2014/main" val="1866877064"/>
                    </a:ext>
                  </a:extLst>
                </a:gridCol>
              </a:tblGrid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Regex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UDPipe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79778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7756676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14389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35032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012309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7.70083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175959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0.00206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43550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0.44544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7642051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2.77038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68794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977320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4377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9636055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words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433167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word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0222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6.45063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66669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5483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15.99473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11977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15057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049406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68198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1.78409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916600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22956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163011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791119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1.17015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185169"/>
                  </a:ext>
                </a:extLst>
              </a:tr>
            </a:tbl>
          </a:graphicData>
        </a:graphic>
      </p:graphicFrame>
      <p:sp>
        <p:nvSpPr>
          <p:cNvPr id="5" name="Nadpis 1">
            <a:extLst>
              <a:ext uri="{FF2B5EF4-FFF2-40B4-BE49-F238E27FC236}">
                <a16:creationId xmlns:a16="http://schemas.microsoft.com/office/drawing/2014/main" id="{346BC9F6-6D13-FDC0-1CF0-81E16EC97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30" y="804672"/>
            <a:ext cx="3396342" cy="5183777"/>
          </a:xfrm>
        </p:spPr>
        <p:txBody>
          <a:bodyPr anchor="ctr">
            <a:normAutofit/>
          </a:bodyPr>
          <a:lstStyle/>
          <a:p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Regex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predspracovania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textu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sz="32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96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751EAB9-393C-D10C-1242-AE43CE1D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2330791"/>
            <a:ext cx="9692640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Grafová a Jazyková Analýza</a:t>
            </a:r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Experimenty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30174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C415DD9-6519-CFF2-BE3D-91D66C88A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0A3A922A-B8F0-3FBF-5EA0-821A8637E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6292045"/>
              </p:ext>
            </p:extLst>
          </p:nvPr>
        </p:nvGraphicFramePr>
        <p:xfrm>
          <a:off x="4801440" y="804672"/>
          <a:ext cx="5704887" cy="5262069"/>
        </p:xfrm>
        <a:graphic>
          <a:graphicData uri="http://schemas.openxmlformats.org/drawingml/2006/table">
            <a:tbl>
              <a:tblPr/>
              <a:tblGrid>
                <a:gridCol w="2067292">
                  <a:extLst>
                    <a:ext uri="{9D8B030D-6E8A-4147-A177-3AD203B41FA5}">
                      <a16:colId xmlns:a16="http://schemas.microsoft.com/office/drawing/2014/main" val="1522675971"/>
                    </a:ext>
                  </a:extLst>
                </a:gridCol>
                <a:gridCol w="948301">
                  <a:extLst>
                    <a:ext uri="{9D8B030D-6E8A-4147-A177-3AD203B41FA5}">
                      <a16:colId xmlns:a16="http://schemas.microsoft.com/office/drawing/2014/main" val="1411456153"/>
                    </a:ext>
                  </a:extLst>
                </a:gridCol>
                <a:gridCol w="1490312">
                  <a:extLst>
                    <a:ext uri="{9D8B030D-6E8A-4147-A177-3AD203B41FA5}">
                      <a16:colId xmlns:a16="http://schemas.microsoft.com/office/drawing/2014/main" val="3791115676"/>
                    </a:ext>
                  </a:extLst>
                </a:gridCol>
                <a:gridCol w="1198982">
                  <a:extLst>
                    <a:ext uri="{9D8B030D-6E8A-4147-A177-3AD203B41FA5}">
                      <a16:colId xmlns:a16="http://schemas.microsoft.com/office/drawing/2014/main" val="3788277443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No Shuffle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7857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36429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13077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13103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80516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802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40582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Average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degree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8.09721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8.11331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9.12446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94544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0.00283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362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0.40852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0.40772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0.39859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5541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Avg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shortest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path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length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2.82903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2.82374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2.88044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67146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10591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56550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93384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1228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40407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16.73137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16.73758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17.58795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45418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13857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13865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16175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1965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21111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1.55676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1.55586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1.33366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52091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20016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36655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69390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1.07769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1.01329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2509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004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558C3AB-CE96-2BAF-599E-2834BC11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6A0A821D-79CF-B381-D213-ED281E6963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627235"/>
              </p:ext>
            </p:extLst>
          </p:nvPr>
        </p:nvGraphicFramePr>
        <p:xfrm>
          <a:off x="4705650" y="804672"/>
          <a:ext cx="5896468" cy="5262060"/>
        </p:xfrm>
        <a:graphic>
          <a:graphicData uri="http://schemas.openxmlformats.org/drawingml/2006/table">
            <a:tbl>
              <a:tblPr firstRow="1" bandRow="1"/>
              <a:tblGrid>
                <a:gridCol w="2283857">
                  <a:extLst>
                    <a:ext uri="{9D8B030D-6E8A-4147-A177-3AD203B41FA5}">
                      <a16:colId xmlns:a16="http://schemas.microsoft.com/office/drawing/2014/main" val="2203187224"/>
                    </a:ext>
                  </a:extLst>
                </a:gridCol>
                <a:gridCol w="1002327">
                  <a:extLst>
                    <a:ext uri="{9D8B030D-6E8A-4147-A177-3AD203B41FA5}">
                      <a16:colId xmlns:a16="http://schemas.microsoft.com/office/drawing/2014/main" val="4280321537"/>
                    </a:ext>
                  </a:extLst>
                </a:gridCol>
                <a:gridCol w="1430144">
                  <a:extLst>
                    <a:ext uri="{9D8B030D-6E8A-4147-A177-3AD203B41FA5}">
                      <a16:colId xmlns:a16="http://schemas.microsoft.com/office/drawing/2014/main" val="1624146885"/>
                    </a:ext>
                  </a:extLst>
                </a:gridCol>
                <a:gridCol w="1180140">
                  <a:extLst>
                    <a:ext uri="{9D8B030D-6E8A-4147-A177-3AD203B41FA5}">
                      <a16:colId xmlns:a16="http://schemas.microsoft.com/office/drawing/2014/main" val="3982137100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Shuffle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863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6175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13259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15502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0401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5011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8.17448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9.55734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1766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891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0.49376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0.48466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032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2.77995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4716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5112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punctuation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marks</a:t>
                      </a: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0697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8159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2531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93463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16.73758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17.58795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8288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17291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10806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6241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1.87549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1.52623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0787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22424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25428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50212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5788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1.17682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1.03779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472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98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C06AC0E-E21B-2E53-C2AB-319A54D2E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5" name="Zástupný objekt pre obsah 4">
            <a:extLst>
              <a:ext uri="{FF2B5EF4-FFF2-40B4-BE49-F238E27FC236}">
                <a16:creationId xmlns:a16="http://schemas.microsoft.com/office/drawing/2014/main" id="{F549734C-CD13-4219-B30F-A0CE01BC37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7593915"/>
              </p:ext>
            </p:extLst>
          </p:nvPr>
        </p:nvGraphicFramePr>
        <p:xfrm>
          <a:off x="4882935" y="804672"/>
          <a:ext cx="5541897" cy="5262069"/>
        </p:xfrm>
        <a:graphic>
          <a:graphicData uri="http://schemas.openxmlformats.org/drawingml/2006/table">
            <a:tbl>
              <a:tblPr firstRow="1" bandRow="1"/>
              <a:tblGrid>
                <a:gridCol w="2006902">
                  <a:extLst>
                    <a:ext uri="{9D8B030D-6E8A-4147-A177-3AD203B41FA5}">
                      <a16:colId xmlns:a16="http://schemas.microsoft.com/office/drawing/2014/main" val="817032544"/>
                    </a:ext>
                  </a:extLst>
                </a:gridCol>
                <a:gridCol w="1817337">
                  <a:extLst>
                    <a:ext uri="{9D8B030D-6E8A-4147-A177-3AD203B41FA5}">
                      <a16:colId xmlns:a16="http://schemas.microsoft.com/office/drawing/2014/main" val="2985090088"/>
                    </a:ext>
                  </a:extLst>
                </a:gridCol>
                <a:gridCol w="1717658">
                  <a:extLst>
                    <a:ext uri="{9D8B030D-6E8A-4147-A177-3AD203B41FA5}">
                      <a16:colId xmlns:a16="http://schemas.microsoft.com/office/drawing/2014/main" val="3849762870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AI Generated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Original Text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63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12671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10002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11198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4108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782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658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38500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8.06288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8.96557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35531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Network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density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0.00325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0.00359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40061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0.30653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0.40550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48330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2.86379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2.79347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62523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52947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24217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6.16969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6.28423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03064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1277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1622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8243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13.37745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12.39211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81691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10369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11932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32430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43183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1.64760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1.68530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31285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14724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18147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80086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1523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1.16021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1.10806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26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8496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BE537F0-F3E7-23FD-555E-6167FF9A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E31AF16E-F7E9-7AAC-FF7C-74F6CB268A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89219"/>
              </p:ext>
            </p:extLst>
          </p:nvPr>
        </p:nvGraphicFramePr>
        <p:xfrm>
          <a:off x="4754109" y="804672"/>
          <a:ext cx="5799548" cy="5262060"/>
        </p:xfrm>
        <a:graphic>
          <a:graphicData uri="http://schemas.openxmlformats.org/drawingml/2006/table">
            <a:tbl>
              <a:tblPr firstRow="1" bandRow="1"/>
              <a:tblGrid>
                <a:gridCol w="2243707">
                  <a:extLst>
                    <a:ext uri="{9D8B030D-6E8A-4147-A177-3AD203B41FA5}">
                      <a16:colId xmlns:a16="http://schemas.microsoft.com/office/drawing/2014/main" val="2619766976"/>
                    </a:ext>
                  </a:extLst>
                </a:gridCol>
                <a:gridCol w="1782175">
                  <a:extLst>
                    <a:ext uri="{9D8B030D-6E8A-4147-A177-3AD203B41FA5}">
                      <a16:colId xmlns:a16="http://schemas.microsoft.com/office/drawing/2014/main" val="4221140420"/>
                    </a:ext>
                  </a:extLst>
                </a:gridCol>
                <a:gridCol w="1773666">
                  <a:extLst>
                    <a:ext uri="{9D8B030D-6E8A-4147-A177-3AD203B41FA5}">
                      <a16:colId xmlns:a16="http://schemas.microsoft.com/office/drawing/2014/main" val="638379924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Generated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Original Text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1837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9650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10019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11135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85043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23732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8.04093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8.87605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42281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density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0.00323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0.00354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67697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0.34884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0.46907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4568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2.76212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2.69403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79368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3718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2990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4342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2762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2303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6.14767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6.26186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75737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1622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8553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13.37745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12.39211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5015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10356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11802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413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12040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1.93839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2.07177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8149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15986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5432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84378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1.25566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1.24213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7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443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CC0826E-826D-C367-2F66-29E6BD917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Modely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6CF00A3-6BFB-0ED5-EA46-86B539125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Zipf Law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nn-NO" dirty="0">
                <a:latin typeface="Arial" panose="020B0604020202020204" pitchFamily="34" charset="0"/>
                <a:cs typeface="Arial" panose="020B0604020202020204" pitchFamily="34" charset="0"/>
              </a:rPr>
              <a:t>frekvencia slova ~ 1/rank^α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overenie prirodzenej jazykovej distribúcie slov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Simon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 vzniku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 slov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rastúca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 s vysokým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clusteringom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preferenčné pripájanie nových uzlov,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distribúcia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Bianconi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uzly majú rôznu „atraktivitu“ (fitness)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308159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D06E5A4-CA2C-4C05-DE62-344F3E064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Modely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E9EB7C3-C42A-1F3A-EF52-5BD0463CD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Nonlinear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rozšírenie BA modelu: pravdepodobnosť ~ k^α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zachová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siete, náhodne poprepája hrany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small-world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sieť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krátkymi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cestami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náhodné prepájanie uzlov s pravdepodobnosťou 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72487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66EA7AC-0798-CE0B-26CB-0E2D8B4B0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B14B638-F9C9-F4AD-2A7B-2EA54BB74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In narrative texts punctuation marks obey the same statistics as words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interpunkčné znamienka majú podobné štatistické vlastnosti ako bežné slová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distribúcii sa interpunkcia nachádza v rovnakom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režime ako najfrekventovanejšie slová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slovných sieťach funguje interpunkcia ako dôležité huby ovplyvňujúce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shortest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autori odporúčajú zahrnúť interpunkciu do analýzy jazykových sietí a NLP modelov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Dynamika sietí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článok sa venuje analýze prirodzeného jazyka pomocou teórie komplexných sietí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skúma, ako vznikajú vzťahy medzi slovami a akú štruktúru vytvára jazyková sieť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opisuje model rastu siete založený na preferenčnom pripájaní slov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porovnáva navrhnutý model s reálnymi jazykovými dátami</a:t>
            </a: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6149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91BE5-BD55-9785-B89A-DE65C450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D5F905E-419F-8F52-9AB8-C4F4816D1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EE7551-353A-BFB0-891C-3FC3EADB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Networksciencebook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základy sieťovej vedy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 a vysvetľuje, ako fungujú komplexné siete v prírode, technológiách či spoločnosti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rozoberá kľúčové koncepty ako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efekt,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centralita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šírenie informácií a robustnosť sietí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prepája matematické modely, dátovú analýzu a vizualizácie s praktickými aplikáciami v informatike, fyzike, biológii aj sociálnych vedách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Language as an Evolving Word Web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opisuje jazyk ako komplexnú sieť slov („Word Web“), kde slová predstavujú vrcholy a ich vzťahy v texte hrany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autori skúmajú evolúciu jazykovej siete pomocou preferenčného pripájania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), kde častejšie používané slová získavajú viac spojení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 vysvetľuje vznik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vlastností jazykových sietí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 stupňov vrcholov bez potreby dodatočného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fitovania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dát</a:t>
            </a: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3281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6F05DDE-5F2C-44F5-BACC-DED4737B1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6BC6A0D-8979-47FF-B606-70528EF8E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051CE5C-CF94-0CCC-3B7A-F3048DED8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2594" y="758952"/>
            <a:ext cx="9056876" cy="4041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Ďakujem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za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pozornosť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92CCBF-1641-4D35-9B74-6E4981730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61335986"/>
      </p:ext>
    </p:extLst>
  </p:cSld>
  <p:clrMapOvr>
    <a:masterClrMapping/>
  </p:clrMapOvr>
</p:sld>
</file>

<file path=ppt/theme/theme1.xml><?xml version="1.0" encoding="utf-8"?>
<a:theme xmlns:a="http://schemas.openxmlformats.org/drawingml/2006/main" name="Pohľad">
  <a:themeElements>
    <a:clrScheme name="Pohľad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Pohľad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Pohľad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TM03457515[[fn=Pohľad]]</Template>
  <TotalTime>571</TotalTime>
  <Words>3653</Words>
  <Application>Microsoft Office PowerPoint</Application>
  <PresentationFormat>Širokouhlá</PresentationFormat>
  <Paragraphs>619</Paragraphs>
  <Slides>20</Slides>
  <Notes>19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20</vt:i4>
      </vt:variant>
    </vt:vector>
  </HeadingPairs>
  <TitlesOfParts>
    <vt:vector size="25" baseType="lpstr">
      <vt:lpstr>Aptos</vt:lpstr>
      <vt:lpstr>Arial</vt:lpstr>
      <vt:lpstr>Century Schoolbook</vt:lpstr>
      <vt:lpstr>Wingdings 2</vt:lpstr>
      <vt:lpstr>Pohľad</vt:lpstr>
      <vt:lpstr>  Model distribúcie interpunkčných znamienok v rôznych textoch </vt:lpstr>
      <vt:lpstr>Anotácia </vt:lpstr>
      <vt:lpstr>Existujúca aplikácia z bakalárskej práce</vt:lpstr>
      <vt:lpstr>Prezentácia programu PowerPoint</vt:lpstr>
      <vt:lpstr>Prezentácia programu PowerPoint</vt:lpstr>
      <vt:lpstr>Pozičné slovné siete</vt:lpstr>
      <vt:lpstr>Rozšírenia aplikácie</vt:lpstr>
      <vt:lpstr>Rozšírenie aplikácie pomocou UDPipe</vt:lpstr>
      <vt:lpstr>Porovnanie Regex predspracovania textu a UDPipe</vt:lpstr>
      <vt:lpstr>Porovnanie Regex predspracovania textu a UDPipe</vt:lpstr>
      <vt:lpstr>Grafová a Jazyková Analýza Experimenty</vt:lpstr>
      <vt:lpstr>Vplyv permutácie textu na pozičné slovné siete</vt:lpstr>
      <vt:lpstr>Vplyv permutácie textu na pozičné slovné siete</vt:lpstr>
      <vt:lpstr>Porovnanie reálneho a AI generovaného textu</vt:lpstr>
      <vt:lpstr>Porovnanie reálneho a AI generovaného textu</vt:lpstr>
      <vt:lpstr>Modely</vt:lpstr>
      <vt:lpstr>Modely</vt:lpstr>
      <vt:lpstr>Vedecké články</vt:lpstr>
      <vt:lpstr>Vedecké články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Zdenko Németh</dc:creator>
  <cp:lastModifiedBy>Zdenko Németh</cp:lastModifiedBy>
  <cp:revision>71</cp:revision>
  <dcterms:created xsi:type="dcterms:W3CDTF">2026-05-10T11:33:11Z</dcterms:created>
  <dcterms:modified xsi:type="dcterms:W3CDTF">2026-05-11T07:57:43Z</dcterms:modified>
</cp:coreProperties>
</file>